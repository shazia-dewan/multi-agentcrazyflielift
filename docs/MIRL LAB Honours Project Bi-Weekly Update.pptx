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embeddedFontLst>
    <p:embeddedFont>
      <p:font typeface="Play"/>
      <p:regular r:id="rId44"/>
      <p:bold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3C79BD9-4D4F-410C-A80E-0E65E8C5DBDC}">
  <a:tblStyle styleId="{33C79BD9-4D4F-410C-A80E-0E65E8C5DBDC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fill>
          <a:solidFill>
            <a:srgbClr val="CAD1D8"/>
          </a:solidFill>
        </a:fill>
      </a:tcStyle>
    </a:band1H>
    <a:band2H>
      <a:tcTxStyle/>
    </a:band2H>
    <a:band1V>
      <a:tcTxStyle/>
      <a:tcStyle>
        <a:fill>
          <a:solidFill>
            <a:srgbClr val="CAD1D8"/>
          </a:solidFill>
        </a:fill>
      </a:tcStyle>
    </a:band1V>
    <a:band2V>
      <a:tcTxStyle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44" Type="http://schemas.openxmlformats.org/officeDocument/2006/relationships/font" Target="fonts/Play-regular.fntdata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45" Type="http://schemas.openxmlformats.org/officeDocument/2006/relationships/font" Target="fonts/Play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ce41eaec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8ce41eaec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f6ec32fba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7f6ec32fba_2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f6ec32fba_2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g37f6ec32fba_2_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f6ec32fba_2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7f6ec32fba_2_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f6ec32f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f6ec32f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6ec32fba_2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7f6ec32fba_2_9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7f6ec32fba_2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g37f6ec32fba_2_9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7f6ec32fba_2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7f6ec32fba_2_10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7f6ec32fba_2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7f6ec32fba_2_10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ce41eaec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ce41eaec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875422c9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875422c980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75422c98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875422c980_0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75422c980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875422c980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875422c980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875422c980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875422c980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g3875422c980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875422c980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875422c980_0_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875422c980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875422c980_0_4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8c8274f9e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8c8274f9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8c8274f9e2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38c8274f9e2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c8274f9e2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8c8274f9e2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c8274f9e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8c8274f9e2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8c8274f9e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8c8274f9e2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8c8274f9e2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8c8274f9e2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8c8274f9e2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g38c8274f9e2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8c8274f9e2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38c8274f9e2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d8d29322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d8d29322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d8d293228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9d8d293228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d8d293228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9d8d293228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d8d293228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9d8d293228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d8d293228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9d8d293228_0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d8d293228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g39d8d293228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d8d29322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9d8d293228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d8d293228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g39d8d293228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d8d293228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d8d293228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6cfc18a1a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6cfc18a1a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d8d29322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g39d8d293228_0_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www.nature.com/articles/s41586-023-06419-4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1-2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Initial Setup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6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35" name="Google Shape;135;p26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7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141" name="Google Shape;141;p27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Goal: Implementing MARL algorithms for safe hovering and navigation on Crazyflie drones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Progress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Base environment for training a single drone to hover at a target</a:t>
            </a:r>
            <a:endParaRPr/>
          </a:p>
          <a:p>
            <a:pPr indent="-22225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○"/>
            </a:pPr>
            <a:r>
              <a:rPr lang="en"/>
              <a:t>Single agent PPO-Clip </a:t>
            </a:r>
            <a:r>
              <a:rPr lang="en"/>
              <a:t>applied to the target hover environment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8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147" name="Google Shape;147;p28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Gymnasium environment set up for a basic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MuJoCo simulation that renders the drone and target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PPO-Clip </a:t>
            </a:r>
            <a:r>
              <a:rPr lang="en"/>
              <a:t>applied to a single drone for the hover task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Results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Semi-successful policy resulting in imperfect hover behaviour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Challenges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Tuning the environment and/or policy to optimize reward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→ Minimize oscillation about the target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Inconsistent convergence on behaviour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E.g. sometimes learns to oscillate target, stay on ground, or fly high up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29" title="drone-1.png"/>
          <p:cNvPicPr preferRelativeResize="0"/>
          <p:nvPr/>
        </p:nvPicPr>
        <p:blipFill rotWithShape="1">
          <a:blip r:embed="rId3">
            <a:alphaModFix/>
          </a:blip>
          <a:srcRect b="0" l="27811" r="27561" t="0"/>
          <a:stretch/>
        </p:blipFill>
        <p:spPr>
          <a:xfrm>
            <a:off x="0" y="-30125"/>
            <a:ext cx="2252824" cy="3304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9" title="drone-2.png"/>
          <p:cNvPicPr preferRelativeResize="0"/>
          <p:nvPr/>
        </p:nvPicPr>
        <p:blipFill rotWithShape="1">
          <a:blip r:embed="rId4">
            <a:alphaModFix/>
          </a:blip>
          <a:srcRect b="0" l="28342" r="27722" t="0"/>
          <a:stretch/>
        </p:blipFill>
        <p:spPr>
          <a:xfrm>
            <a:off x="2307675" y="-31425"/>
            <a:ext cx="2252824" cy="330440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9"/>
          <p:cNvSpPr txBox="1"/>
          <p:nvPr/>
        </p:nvSpPr>
        <p:spPr>
          <a:xfrm>
            <a:off x="390750" y="4106625"/>
            <a:ext cx="83625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Current Goal: Hovering towards a target at [0, 0, 1] (thrust only)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Result: Oscillation about target (or gets stuck on ground / flies high)</a:t>
            </a:r>
            <a:endParaRPr sz="2100">
              <a:solidFill>
                <a:schemeClr val="dk1"/>
              </a:solidFill>
            </a:endParaRPr>
          </a:p>
        </p:txBody>
      </p:sp>
      <p:pic>
        <p:nvPicPr>
          <p:cNvPr id="155" name="Google Shape;155;p29" title="drone-fail-1.png"/>
          <p:cNvPicPr preferRelativeResize="0"/>
          <p:nvPr/>
        </p:nvPicPr>
        <p:blipFill rotWithShape="1">
          <a:blip r:embed="rId5">
            <a:alphaModFix/>
          </a:blip>
          <a:srcRect b="0" l="29186" r="28817" t="0"/>
          <a:stretch/>
        </p:blipFill>
        <p:spPr>
          <a:xfrm>
            <a:off x="4642775" y="-31425"/>
            <a:ext cx="2166124" cy="3304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9" title="Screenshot 2025-09-15 at 3.18.04 PM.png"/>
          <p:cNvPicPr preferRelativeResize="0"/>
          <p:nvPr/>
        </p:nvPicPr>
        <p:blipFill rotWithShape="1">
          <a:blip r:embed="rId6">
            <a:alphaModFix/>
          </a:blip>
          <a:srcRect b="0" l="27498" r="28694" t="0"/>
          <a:stretch/>
        </p:blipFill>
        <p:spPr>
          <a:xfrm>
            <a:off x="6891175" y="-52200"/>
            <a:ext cx="2252826" cy="332647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9"/>
          <p:cNvSpPr txBox="1"/>
          <p:nvPr/>
        </p:nvSpPr>
        <p:spPr>
          <a:xfrm>
            <a:off x="51625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1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8" name="Google Shape;158;p29"/>
          <p:cNvSpPr txBox="1"/>
          <p:nvPr/>
        </p:nvSpPr>
        <p:spPr>
          <a:xfrm>
            <a:off x="2808000" y="3433375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2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59" name="Google Shape;159;p29"/>
          <p:cNvSpPr txBox="1"/>
          <p:nvPr/>
        </p:nvSpPr>
        <p:spPr>
          <a:xfrm>
            <a:off x="509973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3</a:t>
            </a:r>
            <a:endParaRPr sz="2100">
              <a:solidFill>
                <a:schemeClr val="dk1"/>
              </a:solidFill>
            </a:endParaRPr>
          </a:p>
        </p:txBody>
      </p:sp>
      <p:sp>
        <p:nvSpPr>
          <p:cNvPr id="160" name="Google Shape;160;p29"/>
          <p:cNvSpPr txBox="1"/>
          <p:nvPr/>
        </p:nvSpPr>
        <p:spPr>
          <a:xfrm>
            <a:off x="7391488" y="3433363"/>
            <a:ext cx="1252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chemeClr val="dk1"/>
                </a:solidFill>
              </a:rPr>
              <a:t>T = 4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166" name="Google Shape;166;p30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Researching / </a:t>
            </a:r>
            <a:r>
              <a:rPr lang="en"/>
              <a:t>testing</a:t>
            </a:r>
            <a:r>
              <a:rPr lang="en"/>
              <a:t> the parameters and current setup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consistent behaviour convergence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Need reduced oscillation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172" name="Google Shape;172;p31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81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2: Imperfect single agent hovering at target on Z axis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Week 4: Next milestone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Final deadline: Deliverables (e.g., report, demo, paper draft)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lang="en"/>
              <a:t>Note shifts in schedule here so I can track drift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2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178" name="Google Shape;178;p32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lang="en" sz="1900"/>
              <a:t>General feedback on the current setup (</a:t>
            </a:r>
            <a:r>
              <a:rPr lang="en" sz="1900"/>
              <a:t>Main issue: Target Oscillation</a:t>
            </a:r>
            <a:r>
              <a:rPr lang="en" sz="1900"/>
              <a:t>)</a:t>
            </a:r>
            <a:endParaRPr sz="1900"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Environment → Pure RL control (e.g. no thrust baseline)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During training, drone initialized to random position on Z-axis [0, 0, Z]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Reward based on distance improvement (reward += old distance - new distance)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Episode termination based on N ~100 number of steps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PPO-Clip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Update policy every n ~1k steps, over N ~100k total timesteps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Anneal learning rate linearly (fine-tune the policy, encourage exploration at start)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Minibatches, KL-Divergence check, and Entropy bonus </a:t>
            </a:r>
            <a:endParaRPr/>
          </a:p>
          <a:p>
            <a:pPr indent="-17780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Plan</a:t>
            </a:r>
            <a:endParaRPr/>
          </a:p>
          <a:p>
            <a:pPr indent="-17780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minor changes to the environment and/or policy</a:t>
            </a:r>
            <a:endParaRPr/>
          </a:p>
          <a:p>
            <a:pPr indent="-17780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I am working on a script to test different values across PPO / env parameters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184" name="Google Shape;184;p33"/>
          <p:cNvGraphicFramePr/>
          <p:nvPr/>
        </p:nvGraphicFramePr>
        <p:xfrm>
          <a:off x="1084465" y="19272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{33C79BD9-4D4F-410C-A80E-0E65E8C5DBDC}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278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278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2-4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Z and YZ Single-Agent Hover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5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195" name="Google Shape;195;p35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01" name="Google Shape;201;p36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</a:t>
            </a:r>
            <a:r>
              <a:rPr lang="en" sz="1800"/>
              <a:t>Crazyflie drones for </a:t>
            </a:r>
            <a:r>
              <a:rPr lang="en" sz="1800"/>
              <a:t>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07" name="Google Shape;207;p37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Vectorized environments</a:t>
            </a:r>
            <a:r>
              <a:rPr lang="en" sz="1800"/>
              <a:t>: Agent can run multiple envs in parallel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Using SB3 VecEnv → Agent uses batched observations and actions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Hyperparameters and training schedule</a:t>
            </a:r>
            <a:r>
              <a:rPr lang="en" sz="1800"/>
              <a:t>: Adjusted based on testing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now running ~1500 step episodes for 150 000 total steps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Feature engineering</a:t>
            </a:r>
            <a:r>
              <a:rPr lang="en" sz="1800"/>
              <a:t>: Modifying base (pos/vel/rot) features to help the agent establish meaningful connections: ~100 features in obs space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E.g. relative position to target, (squared) distance to target, some are more complex, e.g. direction to target in the drones local coordinate system (body</a:t>
            </a:r>
            <a:r>
              <a:rPr lang="en"/>
              <a:t>→world rotation matrix @ direction vector</a:t>
            </a:r>
            <a:r>
              <a:rPr lang="en"/>
              <a:t>)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Tracking observation gradients during eval run to guide engineering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Better sampling, less variant and more successful behaviour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13" name="Google Shape;213;p3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 single drone to hover at a target in any [X, Y, Z]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Perhaps hover at target T, then return to starting position and land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 and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feature engineering has yielded the most improvement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Experiment with other features, possibly adjust hyperparameters and training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19" name="Google Shape;219;p39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Next milestone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Had planned to get [X, Y, Z] hovering working this week, so slightly behind (although this was an </a:t>
            </a:r>
            <a:r>
              <a:rPr lang="en" sz="1800"/>
              <a:t>ambitious</a:t>
            </a:r>
            <a:r>
              <a:rPr lang="en" sz="1800"/>
              <a:t> goal)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25" name="Google Shape;225;p40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Feature engineering discussion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As I understand it, feature engineering will speed up the learning process and reduce training time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Comparable projects (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Champion-level drone racing using deep reinforcement learning</a:t>
            </a:r>
            <a:r>
              <a:rPr lang="en" sz="1900"/>
              <a:t>) use a more basic observation space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Pos/Vel &amp; Rotation matrix (15) + Relative pos of next quadrant (12) + prev action (4) → Total 31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More </a:t>
            </a:r>
            <a:r>
              <a:rPr lang="en" sz="1900"/>
              <a:t>rigorous</a:t>
            </a:r>
            <a:r>
              <a:rPr lang="en" sz="1900"/>
              <a:t> training: 100 parallel envs, 100 million steps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Us: 24 envs, 3.6 million steps (24 envs, 150000 steps per)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Is our approach (~100 features) reasonable?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Implications for running on actual drones (e.g. feature noise)?</a:t>
            </a:r>
            <a:endParaRPr sz="1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1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31" name="Google Shape;231;p41"/>
          <p:cNvGraphicFramePr/>
          <p:nvPr/>
        </p:nvGraphicFramePr>
        <p:xfrm>
          <a:off x="1084465" y="1361761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{33C79BD9-4D4F-410C-A80E-0E65E8C5DBDC}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11209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</a:t>
                      </a:r>
                      <a:r>
                        <a:rPr lang="en"/>
                        <a:t>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4-6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small ranges for a single agent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42" name="Google Shape;242;p43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48" name="Google Shape;248;p44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small ranges ~1m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254" name="Google Shape;254;p45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reward system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 = survival + w1 * distance_improvement + w2 * target_proximity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Taking 10 MuJoCo physics steps per 1 env step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Previously, env / MuJoCo steps were one-to-one</a:t>
            </a:r>
            <a:endParaRPr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The observation delay allows less reactive commands (roll/pitch/yaw) to have a more visible effect to the agent, and simulates actual control-observation delay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Curriculum of gradually increasing difficulty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During training, gradually scale up the drone’s random initial position, rotation, and velocities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XYZ hover within ~1m (crashes when further)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260" name="Google Shape;260;p46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Extend XYZ hover to greater distances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Learn about MAPPO theory, begin implementation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Research dynamic XYZ hover strategies and MAPPO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266" name="Google Shape;266;p47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___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Relatively on track, hoping to get better ranges for XYZ and a baseline MAPPO implementation by next meeting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272" name="Google Shape;272;p48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-1587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" sz="1900"/>
              <a:t>Extending to any range in XYZ?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Currently, the curriculum scales the initial starting position up to 0.5m (10 curriculum stages, start at 0.05m, +0.05m each stage)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Extending the curriculum has helped, but this linearly scales the training time and does not generalize to any XYZ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Currently, successful XYZ hover within ~1m takes ~15 minutes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8 parallel environments, 600k steps per env, 4.6 million total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Strategies?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Break up large </a:t>
            </a:r>
            <a:r>
              <a:rPr lang="en" sz="1900"/>
              <a:t>journeys</a:t>
            </a:r>
            <a:r>
              <a:rPr lang="en" sz="1900"/>
              <a:t> + pathfinding between checkpoints?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Reshape rewards and/or observations for longer journeys?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rewarding stable flight </a:t>
            </a:r>
            <a:r>
              <a:rPr lang="en" sz="1900"/>
              <a:t>throughout</a:t>
            </a:r>
            <a:r>
              <a:rPr lang="en" sz="1900"/>
              <a:t> entire journey might help drone navigate to far targets without crashing (?)</a:t>
            </a:r>
            <a:endParaRPr sz="1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9"/>
          <p:cNvSpPr txBox="1"/>
          <p:nvPr>
            <p:ph type="title"/>
          </p:nvPr>
        </p:nvSpPr>
        <p:spPr>
          <a:xfrm>
            <a:off x="628650" y="152119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Log Snapshot (Cumulative)</a:t>
            </a:r>
            <a:endParaRPr/>
          </a:p>
        </p:txBody>
      </p:sp>
      <p:graphicFrame>
        <p:nvGraphicFramePr>
          <p:cNvPr id="278" name="Google Shape;278;p49"/>
          <p:cNvGraphicFramePr/>
          <p:nvPr/>
        </p:nvGraphicFramePr>
        <p:xfrm>
          <a:off x="1071015" y="11463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{33C79BD9-4D4F-410C-A80E-0E65E8C5DBDC}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760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Week 6-8</a:t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42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lt1"/>
                </a:solidFill>
              </a:rPr>
              <a:t>XYZ hover within any range + Baseline MARL implementation</a:t>
            </a:r>
            <a:endParaRPr sz="42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1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rPr lang="en"/>
              <a:t>MIRL LAB Honours Project Bi-Weekly Update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289" name="Google Shape;289;p51"/>
          <p:cNvSpPr txBox="1"/>
          <p:nvPr>
            <p:ph idx="1" type="subTitle"/>
          </p:nvPr>
        </p:nvSpPr>
        <p:spPr>
          <a:xfrm>
            <a:off x="961950" y="2701524"/>
            <a:ext cx="72201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MARL Crazyflie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Michael O’Sullivan, Aydin Yalcinkaya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Using MARL to learn safe take-off and hover policies for Crazyflie drones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en" sz="1700"/>
              <a:t>CrazyFlie, MuJuCo, Gymnasium, PyTorch</a:t>
            </a:r>
            <a:endParaRPr sz="1700"/>
          </a:p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Recap</a:t>
            </a:r>
            <a:endParaRPr/>
          </a:p>
        </p:txBody>
      </p:sp>
      <p:sp>
        <p:nvSpPr>
          <p:cNvPr id="295" name="Google Shape;295;p52"/>
          <p:cNvSpPr txBox="1"/>
          <p:nvPr>
            <p:ph idx="1" type="body"/>
          </p:nvPr>
        </p:nvSpPr>
        <p:spPr>
          <a:xfrm>
            <a:off x="417400" y="1369225"/>
            <a:ext cx="8267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Goal</a:t>
            </a:r>
            <a:r>
              <a:rPr lang="en" sz="1800"/>
              <a:t>: Implementing MARL on Crazyflie drones for safe hovering and navigation</a:t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/>
              <a:t>Progress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 environment for training a single drone to hover at a target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Vectorized single agent PPO-Clip that interacts with the environment</a:t>
            </a:r>
            <a:endParaRPr sz="1800"/>
          </a:p>
          <a:p>
            <a:pPr indent="-342900" lvl="1" marL="914400" rtl="0" algn="l">
              <a:spcBef>
                <a:spcPts val="4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Runs 1 or more environments in parallel for better sampling</a:t>
            </a:r>
            <a:endParaRPr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Engineered features to help the agent understand observation relationships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Single agent XYZ hover within most ranges (high success rate, not perfect)</a:t>
            </a:r>
            <a:endParaRPr sz="18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Baseline MAPPO </a:t>
            </a:r>
            <a:r>
              <a:rPr lang="en" sz="1800"/>
              <a:t>implementation</a:t>
            </a:r>
            <a:r>
              <a:rPr lang="en" sz="1800"/>
              <a:t> with sparse success rates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53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Progress Since Last Meeting </a:t>
            </a:r>
            <a:endParaRPr/>
          </a:p>
        </p:txBody>
      </p:sp>
      <p:sp>
        <p:nvSpPr>
          <p:cNvPr id="301" name="Google Shape;301;p53"/>
          <p:cNvSpPr txBox="1"/>
          <p:nvPr>
            <p:ph idx="1" type="body"/>
          </p:nvPr>
        </p:nvSpPr>
        <p:spPr>
          <a:xfrm>
            <a:off x="511650" y="1268050"/>
            <a:ext cx="8119200" cy="36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MAPPO implementation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Centralized critic (sees all obs), Decentralized actors (see their obs)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Multi-agent rewards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-n1 for drone </a:t>
            </a:r>
            <a:r>
              <a:rPr lang="en"/>
              <a:t>collision</a:t>
            </a:r>
            <a:r>
              <a:rPr lang="en"/>
              <a:t> (terminal), </a:t>
            </a:r>
            <a:r>
              <a:rPr lang="en"/>
              <a:t>-n2 for proximity to other drone(s)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New training setup for single/multi drones</a:t>
            </a:r>
            <a:endParaRPr b="1"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No curriculum, sampling from normal distribution for pos/quat/vel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 sz="1800"/>
              <a:t>Results</a:t>
            </a:r>
            <a:r>
              <a:rPr lang="en" sz="1800"/>
              <a:t>: Successful single XYZ hover within most* XYZ (tested ~7m)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Multi-agent hover rarely truncates (succeeds), drones often hover about the target for a while before one of the collides/crashes</a:t>
            </a:r>
            <a:endParaRPr/>
          </a:p>
          <a:p>
            <a: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XYZ success largely due to “normalizing” relative pos to target</a:t>
            </a:r>
            <a:endParaRPr/>
          </a:p>
          <a:p>
            <a: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Feature: Relative pos in body coordinates / initial distance to target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54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Plan for the Next Two Weeks</a:t>
            </a:r>
            <a:endParaRPr/>
          </a:p>
        </p:txBody>
      </p:sp>
      <p:sp>
        <p:nvSpPr>
          <p:cNvPr id="307" name="Google Shape;307;p54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Goals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Successful MARL for 2 drones (hovering at a target without colliding)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Possibly adding / testing with domain randomization as well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Prepare to test on actual drones</a:t>
            </a:r>
            <a:endParaRPr/>
          </a:p>
          <a:p>
            <a:pPr indent="-177800" lvl="2" marL="8636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Maybe test single-agent hover on actual drone</a:t>
            </a:r>
            <a:endParaRPr/>
          </a:p>
          <a:p>
            <a:pPr indent="-171450" lvl="0" marL="1778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●"/>
            </a:pPr>
            <a:r>
              <a:rPr lang="en"/>
              <a:t>Dependencies</a:t>
            </a:r>
            <a:endParaRPr/>
          </a:p>
          <a:p>
            <a:pPr indent="-177800" lvl="1" marL="5207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None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Roadmap Checkpoint</a:t>
            </a:r>
            <a:endParaRPr/>
          </a:p>
        </p:txBody>
      </p:sp>
      <p:sp>
        <p:nvSpPr>
          <p:cNvPr id="313" name="Google Shape;313;p55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2: Imperfect single agent hovering at target on Z axis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4: Successful [0, 0, Z] hover, imperfect [0, Y, Z] hover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6: Successful XYZ hover within small ranges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8: Successful XYZ hover within most ranges, </a:t>
            </a:r>
            <a:r>
              <a:rPr lang="en" sz="1800"/>
              <a:t>baseline</a:t>
            </a:r>
            <a:r>
              <a:rPr lang="en" sz="1800"/>
              <a:t> MARL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Week 10: …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deadline: Deliverables (e.g., report, demo, paper draft)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/>
              <a:t>Early December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Shifts in schedule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On track</a:t>
            </a:r>
            <a:endParaRPr sz="18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6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Projected Progress for Final Meeting</a:t>
            </a:r>
            <a:endParaRPr/>
          </a:p>
        </p:txBody>
      </p:sp>
      <p:sp>
        <p:nvSpPr>
          <p:cNvPr id="319" name="Google Shape;319;p56"/>
          <p:cNvSpPr txBox="1"/>
          <p:nvPr>
            <p:ph idx="1" type="body"/>
          </p:nvPr>
        </p:nvSpPr>
        <p:spPr>
          <a:xfrm>
            <a:off x="628650" y="1369226"/>
            <a:ext cx="7886700" cy="35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Now (end of October)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simulation, getting semi-successful multi-agent hover (getting successful hover might just be a compute issue)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Final meeting (end of November)</a:t>
            </a:r>
            <a:endParaRPr sz="1800"/>
          </a:p>
          <a:p>
            <a: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Successful multi-agent (2 drones) hover at a target in XYZ in simulation → Testing (and possibly success) on 2 real drones</a:t>
            </a:r>
            <a:endParaRPr sz="18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7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/>
              <a:t>Discussion Points / Questions </a:t>
            </a:r>
            <a:endParaRPr/>
          </a:p>
        </p:txBody>
      </p:sp>
      <p:sp>
        <p:nvSpPr>
          <p:cNvPr id="325" name="Google Shape;325;p57"/>
          <p:cNvSpPr txBox="1"/>
          <p:nvPr>
            <p:ph idx="1" type="body"/>
          </p:nvPr>
        </p:nvSpPr>
        <p:spPr>
          <a:xfrm>
            <a:off x="628650" y="1171425"/>
            <a:ext cx="7886700" cy="3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10000"/>
          </a:bodyPr>
          <a:lstStyle/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n" sz="1900"/>
              <a:t>Testing on actual drones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Booking </a:t>
            </a:r>
            <a:r>
              <a:rPr lang="en" sz="1900"/>
              <a:t>time slots</a:t>
            </a:r>
            <a:r>
              <a:rPr lang="en" sz="1900"/>
              <a:t> (how / what is the setup like)?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Safety considerations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What kind of fallbacks should we program into the agent?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if pos/rot/vel &gt; n → Apply neutral hover control?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Physical safety constraints e.g. tether to drone?</a:t>
            </a:r>
            <a:endParaRPr sz="1900"/>
          </a:p>
          <a:p>
            <a:pPr indent="-209550" lvl="2" marL="863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</a:pPr>
            <a:r>
              <a:rPr lang="en" sz="1900"/>
              <a:t>Landing → Run for t seconds then apply sub-neutral thrust?</a:t>
            </a:r>
            <a:endParaRPr sz="1900"/>
          </a:p>
          <a:p>
            <a:pPr indent="-209550" lvl="3" marL="1206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E.g. after 10 seconds, apply (hover thrust - 0.01)?</a:t>
            </a:r>
            <a:endParaRPr sz="1900"/>
          </a:p>
          <a:p>
            <a:pPr indent="-209550" lvl="0" marL="177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b="1" lang="en" sz="1900"/>
              <a:t>Multi-XYZ success → Improvement suggestions?</a:t>
            </a:r>
            <a:endParaRPr b="1"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Any other suggestions / ideas?</a:t>
            </a:r>
            <a:endParaRPr sz="1900"/>
          </a:p>
          <a:p>
            <a:pPr indent="-209550" lvl="1" marL="520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</a:pPr>
            <a:r>
              <a:rPr lang="en" sz="1900"/>
              <a:t>Currently has ~50% success rate at best, see next slides</a:t>
            </a:r>
            <a:endParaRPr sz="19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8"/>
          <p:cNvSpPr txBox="1"/>
          <p:nvPr>
            <p:ph type="title"/>
          </p:nvPr>
        </p:nvSpPr>
        <p:spPr>
          <a:xfrm>
            <a:off x="628650" y="273850"/>
            <a:ext cx="80559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Multi-Agent training, 40 envs, 600k steps per → ~2hrs</a:t>
            </a:r>
            <a:endParaRPr sz="2400"/>
          </a:p>
        </p:txBody>
      </p:sp>
      <p:pic>
        <p:nvPicPr>
          <p:cNvPr id="331" name="Google Shape;331;p58" title="multi_40env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213" y="1097300"/>
            <a:ext cx="7661575" cy="383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9"/>
          <p:cNvSpPr txBox="1"/>
          <p:nvPr>
            <p:ph type="title"/>
          </p:nvPr>
        </p:nvSpPr>
        <p:spPr>
          <a:xfrm>
            <a:off x="628650" y="273850"/>
            <a:ext cx="80559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Multi-Agent training, 40 envs, 2.4mil steps per → ~8hrs</a:t>
            </a:r>
            <a:endParaRPr sz="2400"/>
          </a:p>
        </p:txBody>
      </p:sp>
      <p:pic>
        <p:nvPicPr>
          <p:cNvPr id="337" name="Google Shape;337;p59" title="40env_2mil_400k_step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1350" y="1164625"/>
            <a:ext cx="7141300" cy="357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60"/>
          <p:cNvSpPr txBox="1"/>
          <p:nvPr>
            <p:ph type="title"/>
          </p:nvPr>
        </p:nvSpPr>
        <p:spPr>
          <a:xfrm>
            <a:off x="628650" y="152123"/>
            <a:ext cx="78867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</a:pPr>
            <a:r>
              <a:rPr lang="en" sz="2400"/>
              <a:t>Log Snapshot (Cumulative)</a:t>
            </a:r>
            <a:endParaRPr sz="2400"/>
          </a:p>
        </p:txBody>
      </p:sp>
      <p:graphicFrame>
        <p:nvGraphicFramePr>
          <p:cNvPr id="343" name="Google Shape;343;p60"/>
          <p:cNvGraphicFramePr/>
          <p:nvPr/>
        </p:nvGraphicFramePr>
        <p:xfrm>
          <a:off x="1071015" y="84843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{33C79BD9-4D4F-410C-A80E-0E65E8C5DBDC}</a:tableStyleId>
              </a:tblPr>
              <a:tblGrid>
                <a:gridCol w="1531600"/>
                <a:gridCol w="1531600"/>
                <a:gridCol w="1531600"/>
                <a:gridCol w="1531600"/>
              </a:tblGrid>
              <a:tr h="6021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" sz="1400" u="none" cap="none" strike="noStrike"/>
                        <a:t>Date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Progress  Summary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Next Steps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Arial"/>
                        <a:buNone/>
                      </a:pPr>
                      <a:r>
                        <a:rPr b="1" i="0" lang="en" sz="140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Notes</a:t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23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Sept. 1</a:t>
                      </a:r>
                      <a:r>
                        <a:rPr lang="en"/>
                        <a:t>6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/>
                        <a:t>Set up MuJoCo sim; baseline PPO-Clip training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Refine current setup, explore MAPPO theory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>
                          <a:latin typeface="Arial"/>
                          <a:ea typeface="Arial"/>
                          <a:cs typeface="Arial"/>
                          <a:sym typeface="Arial"/>
                        </a:rPr>
                        <a:t>Policy / env is current imperfect / inconsistent</a:t>
                      </a:r>
                      <a:endParaRPr sz="1100"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34300" marB="34300" marR="68600" marL="68600"/>
                </a:tc>
              </a:tr>
              <a:tr h="8112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cap="none" strike="noStrike"/>
                        <a:t>Sept. 30</a:t>
                      </a:r>
                      <a:endParaRPr sz="11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Successful Z hover.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Semi-successful 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lang="en"/>
                        <a:t>Refine YZ hover and move to XYZ, explore MAPPO theory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1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Oct. 14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XYZ hover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Full XYZ hover and MAPPO implementation</a:t>
                      </a:r>
                      <a:endParaRPr sz="1400"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  <a:tr h="342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Oct 28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Single + Multi XYZ hover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Better multi-XYZ hover, testing on actual drones</a:t>
                      </a:r>
                      <a:endParaRPr/>
                    </a:p>
                  </a:txBody>
                  <a:tcPr marT="34300" marB="34300" marR="68600" marL="6860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400"/>
                    </a:p>
                  </a:txBody>
                  <a:tcPr marT="34300" marB="34300" marR="68600" marL="6860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