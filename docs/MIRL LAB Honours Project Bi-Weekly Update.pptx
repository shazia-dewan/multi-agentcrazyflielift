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5"/>
    <p:sldMasterId id="214748367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</p:sldIdLst>
  <p:sldSz cy="5143500" cx="9144000"/>
  <p:notesSz cx="6858000" cy="9144000"/>
  <p:embeddedFontLst>
    <p:embeddedFont>
      <p:font typeface="Play"/>
      <p:regular r:id="rId63"/>
      <p:bold r:id="rId6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EEF7216-85A2-4925-B9AA-697F3AFA3D84}">
  <a:tblStyle styleId="{7EEF7216-85A2-4925-B9AA-697F3AFA3D84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7E9EC"/>
          </a:solidFill>
        </a:fill>
      </a:tcStyle>
    </a:wholeTbl>
    <a:band1H>
      <a:tcTxStyle/>
      <a:tcStyle>
        <a:fill>
          <a:solidFill>
            <a:srgbClr val="CAD1D8"/>
          </a:solidFill>
        </a:fill>
      </a:tcStyle>
    </a:band1H>
    <a:band2H>
      <a:tcTxStyle/>
    </a:band2H>
    <a:band1V>
      <a:tcTxStyle/>
      <a:tcStyle>
        <a:fill>
          <a:solidFill>
            <a:srgbClr val="CAD1D8"/>
          </a:solidFill>
        </a:fill>
      </a:tcStyle>
    </a:band1V>
    <a:band2V>
      <a:tcTxStyle/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3.xml"/><Relationship Id="rId42" Type="http://schemas.openxmlformats.org/officeDocument/2006/relationships/slide" Target="slides/slide35.xml"/><Relationship Id="rId41" Type="http://schemas.openxmlformats.org/officeDocument/2006/relationships/slide" Target="slides/slide34.xml"/><Relationship Id="rId44" Type="http://schemas.openxmlformats.org/officeDocument/2006/relationships/slide" Target="slides/slide37.xml"/><Relationship Id="rId43" Type="http://schemas.openxmlformats.org/officeDocument/2006/relationships/slide" Target="slides/slide36.xml"/><Relationship Id="rId46" Type="http://schemas.openxmlformats.org/officeDocument/2006/relationships/slide" Target="slides/slide39.xml"/><Relationship Id="rId45" Type="http://schemas.openxmlformats.org/officeDocument/2006/relationships/slide" Target="slides/slide38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48" Type="http://schemas.openxmlformats.org/officeDocument/2006/relationships/slide" Target="slides/slide41.xml"/><Relationship Id="rId47" Type="http://schemas.openxmlformats.org/officeDocument/2006/relationships/slide" Target="slides/slide40.xml"/><Relationship Id="rId49" Type="http://schemas.openxmlformats.org/officeDocument/2006/relationships/slide" Target="slides/slide42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33" Type="http://schemas.openxmlformats.org/officeDocument/2006/relationships/slide" Target="slides/slide26.xml"/><Relationship Id="rId32" Type="http://schemas.openxmlformats.org/officeDocument/2006/relationships/slide" Target="slides/slide25.xml"/><Relationship Id="rId35" Type="http://schemas.openxmlformats.org/officeDocument/2006/relationships/slide" Target="slides/slide28.xml"/><Relationship Id="rId34" Type="http://schemas.openxmlformats.org/officeDocument/2006/relationships/slide" Target="slides/slide27.xml"/><Relationship Id="rId37" Type="http://schemas.openxmlformats.org/officeDocument/2006/relationships/slide" Target="slides/slide30.xml"/><Relationship Id="rId36" Type="http://schemas.openxmlformats.org/officeDocument/2006/relationships/slide" Target="slides/slide29.xml"/><Relationship Id="rId39" Type="http://schemas.openxmlformats.org/officeDocument/2006/relationships/slide" Target="slides/slide32.xml"/><Relationship Id="rId38" Type="http://schemas.openxmlformats.org/officeDocument/2006/relationships/slide" Target="slides/slide31.xml"/><Relationship Id="rId62" Type="http://schemas.openxmlformats.org/officeDocument/2006/relationships/slide" Target="slides/slide55.xml"/><Relationship Id="rId61" Type="http://schemas.openxmlformats.org/officeDocument/2006/relationships/slide" Target="slides/slide54.xml"/><Relationship Id="rId20" Type="http://schemas.openxmlformats.org/officeDocument/2006/relationships/slide" Target="slides/slide13.xml"/><Relationship Id="rId64" Type="http://schemas.openxmlformats.org/officeDocument/2006/relationships/font" Target="fonts/Play-bold.fntdata"/><Relationship Id="rId63" Type="http://schemas.openxmlformats.org/officeDocument/2006/relationships/font" Target="fonts/Play-regular.fntdata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60" Type="http://schemas.openxmlformats.org/officeDocument/2006/relationships/slide" Target="slides/slide53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29" Type="http://schemas.openxmlformats.org/officeDocument/2006/relationships/slide" Target="slides/slide22.xml"/><Relationship Id="rId51" Type="http://schemas.openxmlformats.org/officeDocument/2006/relationships/slide" Target="slides/slide44.xml"/><Relationship Id="rId50" Type="http://schemas.openxmlformats.org/officeDocument/2006/relationships/slide" Target="slides/slide43.xml"/><Relationship Id="rId53" Type="http://schemas.openxmlformats.org/officeDocument/2006/relationships/slide" Target="slides/slide46.xml"/><Relationship Id="rId52" Type="http://schemas.openxmlformats.org/officeDocument/2006/relationships/slide" Target="slides/slide45.xml"/><Relationship Id="rId11" Type="http://schemas.openxmlformats.org/officeDocument/2006/relationships/slide" Target="slides/slide4.xml"/><Relationship Id="rId55" Type="http://schemas.openxmlformats.org/officeDocument/2006/relationships/slide" Target="slides/slide48.xml"/><Relationship Id="rId10" Type="http://schemas.openxmlformats.org/officeDocument/2006/relationships/slide" Target="slides/slide3.xml"/><Relationship Id="rId54" Type="http://schemas.openxmlformats.org/officeDocument/2006/relationships/slide" Target="slides/slide47.xml"/><Relationship Id="rId13" Type="http://schemas.openxmlformats.org/officeDocument/2006/relationships/slide" Target="slides/slide6.xml"/><Relationship Id="rId57" Type="http://schemas.openxmlformats.org/officeDocument/2006/relationships/slide" Target="slides/slide50.xml"/><Relationship Id="rId12" Type="http://schemas.openxmlformats.org/officeDocument/2006/relationships/slide" Target="slides/slide5.xml"/><Relationship Id="rId56" Type="http://schemas.openxmlformats.org/officeDocument/2006/relationships/slide" Target="slides/slide49.xml"/><Relationship Id="rId15" Type="http://schemas.openxmlformats.org/officeDocument/2006/relationships/slide" Target="slides/slide8.xml"/><Relationship Id="rId59" Type="http://schemas.openxmlformats.org/officeDocument/2006/relationships/slide" Target="slides/slide52.xml"/><Relationship Id="rId14" Type="http://schemas.openxmlformats.org/officeDocument/2006/relationships/slide" Target="slides/slide7.xml"/><Relationship Id="rId58" Type="http://schemas.openxmlformats.org/officeDocument/2006/relationships/slide" Target="slides/slide51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8ce41eaecb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8ce41eaecb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7f6ec32fba_2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g37f6ec32fba_2_7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7f6ec32fba_2_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g37f6ec32fba_2_8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7f6ec32fba_2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g37f6ec32fba_2_8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7f6ec32fb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7f6ec32fb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7f6ec32fba_2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g37f6ec32fba_2_9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7f6ec32fba_2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g37f6ec32fba_2_9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7f6ec32fba_2_1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g37f6ec32fba_2_10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7f6ec32fba_2_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g37f6ec32fba_2_10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8ce41eaec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8ce41eaec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875422c98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g3875422c980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875422c980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g3875422c980_0_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875422c980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g3875422c980_0_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875422c980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g3875422c980_0_2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875422c980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g3875422c980_0_3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875422c980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g3875422c980_0_3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875422c980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g3875422c980_0_4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8c8274f9e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8c8274f9e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8c8274f9e2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g38c8274f9e2_0_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8c8274f9e2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g38c8274f9e2_0_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8c8274f9e2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g38c8274f9e2_0_1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8c8274f9e2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g38c8274f9e2_0_1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8c8274f9e2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g38c8274f9e2_0_2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8c8274f9e2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g38c8274f9e2_0_2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38c8274f9e2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g38c8274f9e2_0_3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9d8d293228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39d8d293228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9d8d293228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g39d8d293228_0_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39d8d293228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g39d8d293228_0_1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9d8d293228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8" name="Google Shape;298;g39d8d293228_0_1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39df608643e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g39df608643e_2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9d8d293228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g39d8d293228_0_2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9d8d293228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g39d8d293228_0_2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39d8d293228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g39d8d293228_1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9d8d293228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g39d8d293228_0_3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39d8d293228_1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39d8d293228_1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36cfc18a1a3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0" name="Google Shape;340;g36cfc18a1a3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39d8d293228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g39d8d293228_0_3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g3700e05a9d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2" name="Google Shape;352;g3700e05a9d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3700e05a9de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7" name="Google Shape;357;g3700e05a9de_0_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3700e05a9de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" name="Google Shape;363;g3700e05a9de_0_1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g3700e05a9de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9" name="Google Shape;369;g3700e05a9de_0_2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3700e05a9de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g3700e05a9de_0_3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g3700e05a9d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1" name="Google Shape;381;g3700e05a9de_0_3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g3700e05a9de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g3700e05a9de_0_4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3700e05a9de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3" name="Google Shape;393;g3700e05a9de_0_5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g3a9108f6e3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9" name="Google Shape;399;g3a9108f6e3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g3a9108f6e39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4" name="Google Shape;404;g3a9108f6e39_0_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3a9108f6e39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0" name="Google Shape;410;g3a9108f6e39_0_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g3a9108f6e39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6" name="Google Shape;416;g3a9108f6e39_0_1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3a9108f6e39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3a9108f6e39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5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g3a9108f6e39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7" name="Google Shape;427;g3a9108f6e39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g3a9108f6e39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2" name="Google Shape;432;g3a9108f6e39_0_1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3a9108f6e39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8" name="Google Shape;438;g3a9108f6e39_0_2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2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g3a9108f6e39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g3a9108f6e39_0_2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g3a9108f6e39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0" name="Google Shape;450;g3a9108f6e39_0_3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" type="subTitle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59" name="Google Shape;59;p14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Google Shape;60;p14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" name="Google Shape;61;p1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Google Shape;66;p15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Google Shape;67;p15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" type="body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500"/>
              <a:buNone/>
              <a:defRPr sz="15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400"/>
              <a:buNone/>
              <a:defRPr sz="14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71" name="Google Shape;71;p1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Google Shape;72;p16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Google Shape;73;p16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7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" type="body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2" type="body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8" name="Google Shape;78;p1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" type="body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4" name="Google Shape;84;p18"/>
          <p:cNvSpPr txBox="1"/>
          <p:nvPr>
            <p:ph idx="2" type="body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body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6" name="Google Shape;86;p18"/>
          <p:cNvSpPr txBox="1"/>
          <p:nvPr>
            <p:ph idx="4" type="body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8" name="Google Shape;88;p18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9" name="Google Shape;89;p1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4" name="Google Shape;94;p19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7" name="Google Shape;97;p20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03" name="Google Shape;103;p2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4" name="Google Shape;104;p21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8" name="Google Shape;108;p22"/>
          <p:cNvSpPr/>
          <p:nvPr>
            <p:ph idx="2" type="pic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/>
          <p:nvPr>
            <p:ph idx="1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10" name="Google Shape;110;p2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1" name="Google Shape;111;p2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2" name="Google Shape;112;p22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23"/>
          <p:cNvSpPr txBox="1"/>
          <p:nvPr>
            <p:ph idx="1" type="body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6" name="Google Shape;116;p2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7" name="Google Shape;117;p2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1" name="Google Shape;121;p24"/>
          <p:cNvSpPr txBox="1"/>
          <p:nvPr>
            <p:ph idx="1" type="body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24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3" name="Google Shape;123;p24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4" name="Google Shape;124;p2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  <a:defRPr b="0" i="0" sz="33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www.nature.com/articles/s41586-023-06419-4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3.png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4.gif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lt1"/>
                </a:solidFill>
              </a:rPr>
              <a:t>Week 1-2</a:t>
            </a:r>
            <a:endParaRPr sz="4200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4200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lt1"/>
                </a:solidFill>
              </a:rPr>
              <a:t>Initial Setup</a:t>
            </a:r>
            <a:endParaRPr sz="42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6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rPr lang="en"/>
              <a:t>MIRL LAB Honours Project Bi-Weekly Update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t/>
            </a:r>
            <a:endParaRPr/>
          </a:p>
        </p:txBody>
      </p:sp>
      <p:sp>
        <p:nvSpPr>
          <p:cNvPr id="135" name="Google Shape;135;p26"/>
          <p:cNvSpPr txBox="1"/>
          <p:nvPr>
            <p:ph idx="1" type="subTitle"/>
          </p:nvPr>
        </p:nvSpPr>
        <p:spPr>
          <a:xfrm>
            <a:off x="961950" y="2701524"/>
            <a:ext cx="72201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MARL Crazyflie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Michael O’Sullivan, Aydin Yalcinkaya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Using MARL to learn safe take-off and hover policies for Crazyflie drones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CrazyFlie, MuJuCo, Gymnasium, PyTorch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t/>
            </a:r>
            <a:endParaRPr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7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Progress Recap</a:t>
            </a:r>
            <a:endParaRPr/>
          </a:p>
        </p:txBody>
      </p:sp>
      <p:sp>
        <p:nvSpPr>
          <p:cNvPr id="141" name="Google Shape;141;p27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381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t/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"/>
              <a:t>Goal: Implementing MARL algorithms for safe hovering and navigation on Crazyflie drones</a:t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"/>
              <a:t>Progress</a:t>
            </a:r>
            <a:endParaRPr/>
          </a:p>
          <a:p>
            <a:pPr indent="-22225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○"/>
            </a:pPr>
            <a:r>
              <a:rPr lang="en"/>
              <a:t>Base environment for training a single drone to hover at a target</a:t>
            </a:r>
            <a:endParaRPr/>
          </a:p>
          <a:p>
            <a:pPr indent="-22225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○"/>
            </a:pPr>
            <a:r>
              <a:rPr lang="en"/>
              <a:t>Single agent PPO-Clip </a:t>
            </a:r>
            <a:r>
              <a:rPr lang="en"/>
              <a:t>applied to the target hover environment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8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Progress Since Last Meeting </a:t>
            </a:r>
            <a:endParaRPr/>
          </a:p>
        </p:txBody>
      </p:sp>
      <p:sp>
        <p:nvSpPr>
          <p:cNvPr id="147" name="Google Shape;147;p28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lnSpcReduction="10000"/>
          </a:bodyPr>
          <a:lstStyle/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Gymnasium environment set up for a basic hover task</a:t>
            </a:r>
            <a:endParaRPr/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MuJoCo simulation that renders the drone and target</a:t>
            </a:r>
            <a:endParaRPr/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PPO-Clip </a:t>
            </a:r>
            <a:r>
              <a:rPr lang="en"/>
              <a:t>applied to a single drone for the hover task</a:t>
            </a:r>
            <a:endParaRPr/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Results</a:t>
            </a:r>
            <a:endParaRPr/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Semi-successful policy resulting in imperfect hover behaviour</a:t>
            </a:r>
            <a:endParaRPr/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Challenges</a:t>
            </a:r>
            <a:endParaRPr/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Tuning the environment and/or policy to optimize reward</a:t>
            </a:r>
            <a:endParaRPr/>
          </a:p>
          <a:p>
            <a: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→ Minimize oscillation about the target</a:t>
            </a:r>
            <a:endParaRPr/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Inconsistent convergence on behaviour</a:t>
            </a:r>
            <a:endParaRPr/>
          </a:p>
          <a:p>
            <a: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E.g. sometimes learns to oscillate target, stay on ground, or fly high up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29" title="drone-1.png"/>
          <p:cNvPicPr preferRelativeResize="0"/>
          <p:nvPr/>
        </p:nvPicPr>
        <p:blipFill rotWithShape="1">
          <a:blip r:embed="rId3">
            <a:alphaModFix/>
          </a:blip>
          <a:srcRect b="0" l="27811" r="27561" t="0"/>
          <a:stretch/>
        </p:blipFill>
        <p:spPr>
          <a:xfrm>
            <a:off x="0" y="-30125"/>
            <a:ext cx="2252824" cy="33044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29" title="drone-2.png"/>
          <p:cNvPicPr preferRelativeResize="0"/>
          <p:nvPr/>
        </p:nvPicPr>
        <p:blipFill rotWithShape="1">
          <a:blip r:embed="rId4">
            <a:alphaModFix/>
          </a:blip>
          <a:srcRect b="0" l="28342" r="27722" t="0"/>
          <a:stretch/>
        </p:blipFill>
        <p:spPr>
          <a:xfrm>
            <a:off x="2307675" y="-31425"/>
            <a:ext cx="2252824" cy="3304401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29"/>
          <p:cNvSpPr txBox="1"/>
          <p:nvPr/>
        </p:nvSpPr>
        <p:spPr>
          <a:xfrm>
            <a:off x="390750" y="4106625"/>
            <a:ext cx="8362500" cy="88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dk1"/>
                </a:solidFill>
              </a:rPr>
              <a:t>Current Goal: Hovering towards a target at [0, 0, 1] (thrust only)</a:t>
            </a:r>
            <a:endParaRPr sz="21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dk1"/>
                </a:solidFill>
              </a:rPr>
              <a:t>Result: Oscillation about target (or gets stuck on ground / flies high)</a:t>
            </a:r>
            <a:endParaRPr sz="2100">
              <a:solidFill>
                <a:schemeClr val="dk1"/>
              </a:solidFill>
            </a:endParaRPr>
          </a:p>
        </p:txBody>
      </p:sp>
      <p:pic>
        <p:nvPicPr>
          <p:cNvPr id="155" name="Google Shape;155;p29" title="drone-fail-1.png"/>
          <p:cNvPicPr preferRelativeResize="0"/>
          <p:nvPr/>
        </p:nvPicPr>
        <p:blipFill rotWithShape="1">
          <a:blip r:embed="rId5">
            <a:alphaModFix/>
          </a:blip>
          <a:srcRect b="0" l="29186" r="28817" t="0"/>
          <a:stretch/>
        </p:blipFill>
        <p:spPr>
          <a:xfrm>
            <a:off x="4642775" y="-31425"/>
            <a:ext cx="2166124" cy="33044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29" title="Screenshot 2025-09-15 at 3.18.04 PM.png"/>
          <p:cNvPicPr preferRelativeResize="0"/>
          <p:nvPr/>
        </p:nvPicPr>
        <p:blipFill rotWithShape="1">
          <a:blip r:embed="rId6">
            <a:alphaModFix/>
          </a:blip>
          <a:srcRect b="0" l="27498" r="28694" t="0"/>
          <a:stretch/>
        </p:blipFill>
        <p:spPr>
          <a:xfrm>
            <a:off x="6891175" y="-52200"/>
            <a:ext cx="2252826" cy="3326474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9"/>
          <p:cNvSpPr txBox="1"/>
          <p:nvPr/>
        </p:nvSpPr>
        <p:spPr>
          <a:xfrm>
            <a:off x="516250" y="3433375"/>
            <a:ext cx="1252200" cy="35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dk1"/>
                </a:solidFill>
              </a:rPr>
              <a:t>T = 1</a:t>
            </a:r>
            <a:endParaRPr sz="2100">
              <a:solidFill>
                <a:schemeClr val="dk1"/>
              </a:solidFill>
            </a:endParaRPr>
          </a:p>
        </p:txBody>
      </p:sp>
      <p:sp>
        <p:nvSpPr>
          <p:cNvPr id="158" name="Google Shape;158;p29"/>
          <p:cNvSpPr txBox="1"/>
          <p:nvPr/>
        </p:nvSpPr>
        <p:spPr>
          <a:xfrm>
            <a:off x="2808000" y="3433375"/>
            <a:ext cx="1252200" cy="35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dk1"/>
                </a:solidFill>
              </a:rPr>
              <a:t>T = 2</a:t>
            </a:r>
            <a:endParaRPr sz="2100">
              <a:solidFill>
                <a:schemeClr val="dk1"/>
              </a:solidFill>
            </a:endParaRPr>
          </a:p>
        </p:txBody>
      </p:sp>
      <p:sp>
        <p:nvSpPr>
          <p:cNvPr id="159" name="Google Shape;159;p29"/>
          <p:cNvSpPr txBox="1"/>
          <p:nvPr/>
        </p:nvSpPr>
        <p:spPr>
          <a:xfrm>
            <a:off x="5099738" y="3433363"/>
            <a:ext cx="1252200" cy="35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dk1"/>
                </a:solidFill>
              </a:rPr>
              <a:t>T = 3</a:t>
            </a:r>
            <a:endParaRPr sz="2100">
              <a:solidFill>
                <a:schemeClr val="dk1"/>
              </a:solidFill>
            </a:endParaRPr>
          </a:p>
        </p:txBody>
      </p:sp>
      <p:sp>
        <p:nvSpPr>
          <p:cNvPr id="160" name="Google Shape;160;p29"/>
          <p:cNvSpPr txBox="1"/>
          <p:nvPr/>
        </p:nvSpPr>
        <p:spPr>
          <a:xfrm>
            <a:off x="7391488" y="3433363"/>
            <a:ext cx="1252200" cy="35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dk1"/>
                </a:solidFill>
              </a:rPr>
              <a:t>T = 4</a:t>
            </a:r>
            <a:endParaRPr sz="2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Plan for the Next Two Weeks</a:t>
            </a:r>
            <a:endParaRPr/>
          </a:p>
        </p:txBody>
      </p:sp>
      <p:sp>
        <p:nvSpPr>
          <p:cNvPr id="166" name="Google Shape;166;p30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"/>
              <a:t>Goals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Learn a single drone to hover at a target in any [X, Y, Z]</a:t>
            </a:r>
            <a:endParaRPr/>
          </a:p>
          <a:p>
            <a:pPr indent="-177800" lvl="2" marL="8636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Perhaps hover at target T, then return to starting position and land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Learn about MAPPO theory and implementation</a:t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"/>
              <a:t>Dependencies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Researching / </a:t>
            </a:r>
            <a:r>
              <a:rPr lang="en"/>
              <a:t>testing</a:t>
            </a:r>
            <a:r>
              <a:rPr lang="en"/>
              <a:t> the parameters and current setup</a:t>
            </a:r>
            <a:endParaRPr/>
          </a:p>
          <a:p>
            <a:pPr indent="-177800" lvl="2" marL="8636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Need consistent behaviour convergence</a:t>
            </a:r>
            <a:endParaRPr/>
          </a:p>
          <a:p>
            <a:pPr indent="-177800" lvl="2" marL="8636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Need reduced oscillation 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1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Roadmap Checkpoint</a:t>
            </a:r>
            <a:endParaRPr/>
          </a:p>
        </p:txBody>
      </p:sp>
      <p:sp>
        <p:nvSpPr>
          <p:cNvPr id="172" name="Google Shape;172;p31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381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t/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lang="en"/>
              <a:t>Week 2: Imperfect single agent hovering at target on Z axis</a:t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lang="en"/>
              <a:t>Week 4: Next milestone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lang="en"/>
              <a:t>Final deadline: Deliverables (e.g., report, demo, paper draft)</a:t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lang="en"/>
              <a:t>Note shifts in schedule here so I can track drift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2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Discussion Points / Questions </a:t>
            </a:r>
            <a:endParaRPr/>
          </a:p>
        </p:txBody>
      </p:sp>
      <p:sp>
        <p:nvSpPr>
          <p:cNvPr id="178" name="Google Shape;178;p32"/>
          <p:cNvSpPr txBox="1"/>
          <p:nvPr>
            <p:ph idx="1" type="body"/>
          </p:nvPr>
        </p:nvSpPr>
        <p:spPr>
          <a:xfrm>
            <a:off x="628650" y="1171425"/>
            <a:ext cx="7886700" cy="3648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158750" lvl="0" marL="177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●"/>
            </a:pPr>
            <a:r>
              <a:rPr lang="en" sz="1900"/>
              <a:t>General feedback on the current setup (</a:t>
            </a:r>
            <a:r>
              <a:rPr lang="en" sz="1900"/>
              <a:t>Main issue: Target Oscillation</a:t>
            </a:r>
            <a:r>
              <a:rPr lang="en" sz="1900"/>
              <a:t>)</a:t>
            </a:r>
            <a:endParaRPr sz="1900"/>
          </a:p>
          <a:p>
            <a:pPr indent="-177800" lvl="1" marL="520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Environment → Pure RL control (e.g. no thrust baseline)</a:t>
            </a:r>
            <a:endParaRPr/>
          </a:p>
          <a:p>
            <a:pPr indent="-17780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During training, drone initialized to random position on Z-axis [0, 0, Z]</a:t>
            </a:r>
            <a:endParaRPr/>
          </a:p>
          <a:p>
            <a:pPr indent="-17780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Reward based on distance improvement (reward += old distance - new distance)</a:t>
            </a:r>
            <a:endParaRPr/>
          </a:p>
          <a:p>
            <a:pPr indent="-17780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Episode termination based on N ~100 number of steps</a:t>
            </a:r>
            <a:endParaRPr/>
          </a:p>
          <a:p>
            <a:pPr indent="-177800" lvl="1" marL="520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PPO-Clip</a:t>
            </a:r>
            <a:endParaRPr/>
          </a:p>
          <a:p>
            <a:pPr indent="-17780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Update policy every n ~1k steps, over N ~100k total timesteps</a:t>
            </a:r>
            <a:endParaRPr/>
          </a:p>
          <a:p>
            <a:pPr indent="-17780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Anneal learning rate linearly (fine-tune the policy, encourage exploration at start)</a:t>
            </a:r>
            <a:endParaRPr/>
          </a:p>
          <a:p>
            <a:pPr indent="-17780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Minibatches, KL-Divergence check, and Entropy bonus </a:t>
            </a:r>
            <a:endParaRPr/>
          </a:p>
          <a:p>
            <a:pPr indent="-177800" lvl="1" marL="520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Plan</a:t>
            </a:r>
            <a:endParaRPr/>
          </a:p>
          <a:p>
            <a:pPr indent="-17780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Experiment with minor changes to the environment and/or policy</a:t>
            </a:r>
            <a:endParaRPr/>
          </a:p>
          <a:p>
            <a:pPr indent="-177800" lvl="3" marL="12065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I am working on a script to test different values across PPO / env parameters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3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Log Snapshot (Cumulative)</a:t>
            </a:r>
            <a:endParaRPr/>
          </a:p>
        </p:txBody>
      </p:sp>
      <p:graphicFrame>
        <p:nvGraphicFramePr>
          <p:cNvPr id="184" name="Google Shape;184;p33"/>
          <p:cNvGraphicFramePr/>
          <p:nvPr/>
        </p:nvGraphicFramePr>
        <p:xfrm>
          <a:off x="1084465" y="192723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{7EEF7216-85A2-4925-B9AA-697F3AFA3D84}</a:tableStyleId>
              </a:tblPr>
              <a:tblGrid>
                <a:gridCol w="1531600"/>
                <a:gridCol w="1531600"/>
                <a:gridCol w="1531600"/>
                <a:gridCol w="1531600"/>
              </a:tblGrid>
              <a:tr h="2781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 sz="1400" u="none" cap="none" strike="noStrike"/>
                        <a:t>Date</a:t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Progress  Summary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Next Steps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Notes</a:t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</a:tr>
              <a:tr h="2781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Sept. 1</a:t>
                      </a:r>
                      <a:r>
                        <a:rPr lang="en"/>
                        <a:t>6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Set up MuJoCo sim; baseline PPO-Clip training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>
                          <a:latin typeface="Arial"/>
                          <a:ea typeface="Arial"/>
                          <a:cs typeface="Arial"/>
                          <a:sym typeface="Arial"/>
                        </a:rPr>
                        <a:t>Refine current setup, explore MAPPO theory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>
                          <a:latin typeface="Arial"/>
                          <a:ea typeface="Arial"/>
                          <a:cs typeface="Arial"/>
                          <a:sym typeface="Arial"/>
                        </a:rPr>
                        <a:t>Policy / env is current imperfect / inconsistent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</a:tr>
              <a:tr h="2781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cap="none" strike="noStrike"/>
                        <a:t>Sept. 30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/>
                </a:tc>
              </a:tr>
              <a:tr h="2781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/>
                    </a:p>
                  </a:txBody>
                  <a:tcPr marT="34300" marB="34300" marR="68600" marL="68600"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4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lt1"/>
                </a:solidFill>
              </a:rPr>
              <a:t>Week 2-4</a:t>
            </a:r>
            <a:endParaRPr sz="4200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4200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lt1"/>
                </a:solidFill>
              </a:rPr>
              <a:t>Z and YZ Single-Agent Hover</a:t>
            </a:r>
            <a:endParaRPr sz="42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5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rPr lang="en"/>
              <a:t>MIRL LAB Honours Project Bi-Weekly Update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t/>
            </a:r>
            <a:endParaRPr/>
          </a:p>
        </p:txBody>
      </p:sp>
      <p:sp>
        <p:nvSpPr>
          <p:cNvPr id="195" name="Google Shape;195;p35"/>
          <p:cNvSpPr txBox="1"/>
          <p:nvPr>
            <p:ph idx="1" type="subTitle"/>
          </p:nvPr>
        </p:nvSpPr>
        <p:spPr>
          <a:xfrm>
            <a:off x="961950" y="2701524"/>
            <a:ext cx="72201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MARL Crazyflie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Michael O’Sullivan, Aydin Yalcinkaya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Using MARL to learn safe take-off and hover policies for Crazyflie drones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CrazyFlie, MuJuCo, Gymnasium, PyTorch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t/>
            </a:r>
            <a:endParaRPr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6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Progress Recap</a:t>
            </a:r>
            <a:endParaRPr/>
          </a:p>
        </p:txBody>
      </p:sp>
      <p:sp>
        <p:nvSpPr>
          <p:cNvPr id="201" name="Google Shape;201;p36"/>
          <p:cNvSpPr txBox="1"/>
          <p:nvPr>
            <p:ph idx="1" type="body"/>
          </p:nvPr>
        </p:nvSpPr>
        <p:spPr>
          <a:xfrm>
            <a:off x="417400" y="1369225"/>
            <a:ext cx="8267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Goal</a:t>
            </a:r>
            <a:r>
              <a:rPr lang="en" sz="1800"/>
              <a:t>: Implementing MARL on </a:t>
            </a:r>
            <a:r>
              <a:rPr lang="en" sz="1800"/>
              <a:t>Crazyflie drones for </a:t>
            </a:r>
            <a:r>
              <a:rPr lang="en" sz="1800"/>
              <a:t>safe hovering and navigation</a:t>
            </a:r>
            <a:endParaRPr sz="18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/>
              <a:t>Progress</a:t>
            </a:r>
            <a:endParaRPr sz="18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Base environment for training a single drone to hover at a target</a:t>
            </a:r>
            <a:endParaRPr sz="18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Vectorized single agent PPO-Clip that interacts with the environment</a:t>
            </a:r>
            <a:endParaRPr sz="1800"/>
          </a:p>
          <a:p>
            <a:pPr indent="-342900" lvl="1" marL="914400" rtl="0" algn="l">
              <a:spcBef>
                <a:spcPts val="40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Runs 1 or more environments in parallel for better sampling</a:t>
            </a:r>
            <a:endParaRPr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Engineered features to help the agent understand observation relationships</a:t>
            </a:r>
            <a:endParaRPr sz="18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7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Progress Since Last Meeting </a:t>
            </a:r>
            <a:endParaRPr/>
          </a:p>
        </p:txBody>
      </p:sp>
      <p:sp>
        <p:nvSpPr>
          <p:cNvPr id="207" name="Google Shape;207;p37"/>
          <p:cNvSpPr txBox="1"/>
          <p:nvPr>
            <p:ph idx="1" type="body"/>
          </p:nvPr>
        </p:nvSpPr>
        <p:spPr>
          <a:xfrm>
            <a:off x="511650" y="1268050"/>
            <a:ext cx="8119200" cy="36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b="1" lang="en" sz="1800"/>
              <a:t>Vectorized environments</a:t>
            </a:r>
            <a:r>
              <a:rPr lang="en" sz="1800"/>
              <a:t>: Agent can run multiple envs in parallel</a:t>
            </a:r>
            <a:endParaRPr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Using SB3 VecEnv → Agent uses batched observations and actions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 sz="1800"/>
              <a:t>Hyperparameters and training schedule</a:t>
            </a:r>
            <a:r>
              <a:rPr lang="en" sz="1800"/>
              <a:t>: Adjusted based on testing</a:t>
            </a:r>
            <a:endParaRPr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E.g. now running ~1500 step episodes for 150 000 total steps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 sz="1800"/>
              <a:t>Feature engineering</a:t>
            </a:r>
            <a:r>
              <a:rPr lang="en" sz="1800"/>
              <a:t>: Modifying base (pos/vel/rot) features to help the agent establish meaningful connections: ~100 features in obs space</a:t>
            </a:r>
            <a:endParaRPr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E.g. relative position to target, (squared) distance to target, some are more complex, e.g. direction to target in the drones local coordinate system (body</a:t>
            </a:r>
            <a:r>
              <a:rPr lang="en"/>
              <a:t>→world rotation matrix @ direction vector</a:t>
            </a:r>
            <a:r>
              <a:rPr lang="en"/>
              <a:t>)</a:t>
            </a:r>
            <a:endParaRPr/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Tracking observation gradients during eval run to guide engineering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 sz="1800"/>
              <a:t>Results</a:t>
            </a:r>
            <a:r>
              <a:rPr lang="en" sz="1800"/>
              <a:t>: Better sampling, less variant and more successful behaviour</a:t>
            </a:r>
            <a:endParaRPr sz="18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8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Plan for the Next Two Weeks</a:t>
            </a:r>
            <a:endParaRPr/>
          </a:p>
        </p:txBody>
      </p:sp>
      <p:sp>
        <p:nvSpPr>
          <p:cNvPr id="213" name="Google Shape;213;p3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"/>
              <a:t>Goals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Learn a single drone to hover at a target in any [X, Y, Z]</a:t>
            </a:r>
            <a:endParaRPr/>
          </a:p>
          <a:p>
            <a:pPr indent="-177800" lvl="2" marL="8636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Perhaps hover at target T, then return to starting position and land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Learn about MAPPO theory and implementation</a:t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"/>
              <a:t>Dependencies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Currently, feature engineering has yielded the most improvement</a:t>
            </a:r>
            <a:endParaRPr/>
          </a:p>
          <a:p>
            <a:pPr indent="-177800" lvl="2" marL="8636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Experiment with other features, possibly adjust hyperparameters and training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9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Roadmap Checkpoint</a:t>
            </a:r>
            <a:endParaRPr/>
          </a:p>
        </p:txBody>
      </p:sp>
      <p:sp>
        <p:nvSpPr>
          <p:cNvPr id="219" name="Google Shape;219;p39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2: Imperfect single agent hovering at target on Z axis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4: Successful [0, 0, Z] hover, imperfect [0, Y, Z] hover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6: Next milestone</a:t>
            </a:r>
            <a:endParaRPr sz="1800"/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Final deadline: Deliverables (e.g., report, demo, paper draft)</a:t>
            </a:r>
            <a:endParaRPr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Early December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Shifts in schedule</a:t>
            </a:r>
            <a:endParaRPr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Had planned to get [X, Y, Z] hovering working this week, so slightly behind (although this was an </a:t>
            </a:r>
            <a:r>
              <a:rPr lang="en" sz="1800"/>
              <a:t>ambitious</a:t>
            </a:r>
            <a:r>
              <a:rPr lang="en" sz="1800"/>
              <a:t> goal)</a:t>
            </a:r>
            <a:endParaRPr sz="18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0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Discussion Points / Questions </a:t>
            </a:r>
            <a:endParaRPr/>
          </a:p>
        </p:txBody>
      </p:sp>
      <p:sp>
        <p:nvSpPr>
          <p:cNvPr id="225" name="Google Shape;225;p40"/>
          <p:cNvSpPr txBox="1"/>
          <p:nvPr>
            <p:ph idx="1" type="body"/>
          </p:nvPr>
        </p:nvSpPr>
        <p:spPr>
          <a:xfrm>
            <a:off x="628650" y="1171425"/>
            <a:ext cx="7886700" cy="3648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lnSpcReduction="10000"/>
          </a:bodyPr>
          <a:lstStyle/>
          <a:p>
            <a:pPr indent="-158750" lvl="0" marL="177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●"/>
            </a:pPr>
            <a:r>
              <a:rPr b="1" lang="en" sz="1900"/>
              <a:t>Feature engineering discussion</a:t>
            </a:r>
            <a:endParaRPr b="1" sz="1900"/>
          </a:p>
          <a:p>
            <a:pPr indent="-209550" lvl="1" marL="520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As I understand it, feature engineering will speed up the learning process and reduce training time</a:t>
            </a:r>
            <a:endParaRPr sz="1900"/>
          </a:p>
          <a:p>
            <a:pPr indent="-209550" lvl="1" marL="520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Comparable projects (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Champion-level drone racing using deep reinforcement learning</a:t>
            </a:r>
            <a:r>
              <a:rPr lang="en" sz="1900"/>
              <a:t>) use a more basic observation space</a:t>
            </a:r>
            <a:endParaRPr sz="1900"/>
          </a:p>
          <a:p>
            <a:pPr indent="-20955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</a:pPr>
            <a:r>
              <a:rPr lang="en" sz="1900"/>
              <a:t>Pos/Vel &amp; Rotation matrix (15) + Relative pos of next quadrant (12) + prev action (4) → Total 31</a:t>
            </a:r>
            <a:endParaRPr sz="1900"/>
          </a:p>
          <a:p>
            <a:pPr indent="-20955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</a:pPr>
            <a:r>
              <a:rPr lang="en" sz="1900"/>
              <a:t>More </a:t>
            </a:r>
            <a:r>
              <a:rPr lang="en" sz="1900"/>
              <a:t>rigorous</a:t>
            </a:r>
            <a:r>
              <a:rPr lang="en" sz="1900"/>
              <a:t> training: 100 parallel envs, 100 million steps</a:t>
            </a:r>
            <a:endParaRPr sz="1900"/>
          </a:p>
          <a:p>
            <a:pPr indent="-20955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</a:pPr>
            <a:r>
              <a:rPr lang="en" sz="1900"/>
              <a:t>Us: 24 envs, 3.6 million steps (24 envs, 150000 steps per)</a:t>
            </a:r>
            <a:endParaRPr sz="1900"/>
          </a:p>
          <a:p>
            <a:pPr indent="-209550" lvl="1" marL="520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Is our approach (~100 features) reasonable?</a:t>
            </a:r>
            <a:endParaRPr sz="1900"/>
          </a:p>
          <a:p>
            <a:pPr indent="-20955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</a:pPr>
            <a:r>
              <a:rPr lang="en" sz="1900"/>
              <a:t>Implications for running on actual drones (e.g. feature noise)?</a:t>
            </a:r>
            <a:endParaRPr sz="19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41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Log Snapshot (Cumulative)</a:t>
            </a:r>
            <a:endParaRPr/>
          </a:p>
        </p:txBody>
      </p:sp>
      <p:graphicFrame>
        <p:nvGraphicFramePr>
          <p:cNvPr id="231" name="Google Shape;231;p41"/>
          <p:cNvGraphicFramePr/>
          <p:nvPr/>
        </p:nvGraphicFramePr>
        <p:xfrm>
          <a:off x="1084465" y="1361761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{7EEF7216-85A2-4925-B9AA-697F3AFA3D84}</a:tableStyleId>
              </a:tblPr>
              <a:tblGrid>
                <a:gridCol w="1531600"/>
                <a:gridCol w="1531600"/>
                <a:gridCol w="1531600"/>
                <a:gridCol w="1531600"/>
              </a:tblGrid>
              <a:tr h="6021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 sz="1400" u="none" cap="none" strike="noStrike"/>
                        <a:t>Date</a:t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Progress  Summary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Next Steps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Notes</a:t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</a:tr>
              <a:tr h="1120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Sept. 1</a:t>
                      </a:r>
                      <a:r>
                        <a:rPr lang="en"/>
                        <a:t>6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Set up MuJoCo sim; baseline PPO-Clip training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>
                          <a:latin typeface="Arial"/>
                          <a:ea typeface="Arial"/>
                          <a:cs typeface="Arial"/>
                          <a:sym typeface="Arial"/>
                        </a:rPr>
                        <a:t>Refine current setup, explore MAPPO theory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>
                          <a:latin typeface="Arial"/>
                          <a:ea typeface="Arial"/>
                          <a:cs typeface="Arial"/>
                          <a:sym typeface="Arial"/>
                        </a:rPr>
                        <a:t>Policy / env is current imperfect / inconsistent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</a:tr>
              <a:tr h="1120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cap="none" strike="noStrike"/>
                        <a:t>Sept. 30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/>
                        <a:t>Successful</a:t>
                      </a:r>
                      <a:r>
                        <a:rPr lang="en"/>
                        <a:t> Z hover.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/>
                        <a:t>Semi-successful YZ hover</a:t>
                      </a:r>
                      <a:endParaRPr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/>
                        <a:t>Refine YZ hover and move to XYZ, explore MAPPO theory</a:t>
                      </a:r>
                      <a:endParaRPr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/>
                </a:tc>
              </a:tr>
              <a:tr h="342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/>
                    </a:p>
                  </a:txBody>
                  <a:tcPr marT="34300" marB="34300" marR="68600" marL="68600"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4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lt1"/>
                </a:solidFill>
              </a:rPr>
              <a:t>Week 4-6</a:t>
            </a:r>
            <a:endParaRPr sz="4200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4200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lt1"/>
                </a:solidFill>
              </a:rPr>
              <a:t>XYZ hover within small ranges for a single agent</a:t>
            </a:r>
            <a:endParaRPr sz="42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rPr lang="en"/>
              <a:t>MIRL LAB Honours Project Bi-Weekly Update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t/>
            </a:r>
            <a:endParaRPr/>
          </a:p>
        </p:txBody>
      </p:sp>
      <p:sp>
        <p:nvSpPr>
          <p:cNvPr id="242" name="Google Shape;242;p43"/>
          <p:cNvSpPr txBox="1"/>
          <p:nvPr>
            <p:ph idx="1" type="subTitle"/>
          </p:nvPr>
        </p:nvSpPr>
        <p:spPr>
          <a:xfrm>
            <a:off x="961950" y="2701524"/>
            <a:ext cx="72201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MARL Crazyflie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Michael O’Sullivan, Aydin Yalcinkaya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Using MARL to learn safe take-off and hover policies for Crazyflie drones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CrazyFlie, MuJuCo, Gymnasium, PyTorch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t/>
            </a:r>
            <a:endParaRPr sz="11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44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Progress Recap</a:t>
            </a:r>
            <a:endParaRPr/>
          </a:p>
        </p:txBody>
      </p:sp>
      <p:sp>
        <p:nvSpPr>
          <p:cNvPr id="248" name="Google Shape;248;p44"/>
          <p:cNvSpPr txBox="1"/>
          <p:nvPr>
            <p:ph idx="1" type="body"/>
          </p:nvPr>
        </p:nvSpPr>
        <p:spPr>
          <a:xfrm>
            <a:off x="417400" y="1369225"/>
            <a:ext cx="8267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Goal</a:t>
            </a:r>
            <a:r>
              <a:rPr lang="en" sz="1800"/>
              <a:t>: Implementing MARL on Crazyflie drones for safe hovering and navigation</a:t>
            </a:r>
            <a:endParaRPr sz="18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/>
              <a:t>Progress</a:t>
            </a:r>
            <a:endParaRPr sz="18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Base environment for training a single drone to hover at a target</a:t>
            </a:r>
            <a:endParaRPr sz="18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Vectorized single agent PPO-Clip that interacts with the environment</a:t>
            </a:r>
            <a:endParaRPr sz="1800"/>
          </a:p>
          <a:p>
            <a:pPr indent="-342900" lvl="1" marL="914400" rtl="0" algn="l">
              <a:spcBef>
                <a:spcPts val="40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Runs 1 or more environments in parallel for better sampling</a:t>
            </a:r>
            <a:endParaRPr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Engineered features to help the agent understand observation relationships</a:t>
            </a:r>
            <a:endParaRPr sz="18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Single agent XYZ hover within small ranges ~1m</a:t>
            </a:r>
            <a:endParaRPr sz="18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Progress Since Last Meeting </a:t>
            </a:r>
            <a:endParaRPr/>
          </a:p>
        </p:txBody>
      </p:sp>
      <p:sp>
        <p:nvSpPr>
          <p:cNvPr id="254" name="Google Shape;254;p45"/>
          <p:cNvSpPr txBox="1"/>
          <p:nvPr>
            <p:ph idx="1" type="body"/>
          </p:nvPr>
        </p:nvSpPr>
        <p:spPr>
          <a:xfrm>
            <a:off x="511650" y="1268050"/>
            <a:ext cx="8119200" cy="36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b="1" lang="en" sz="1800"/>
              <a:t>New reward system</a:t>
            </a:r>
            <a:endParaRPr b="1"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 = survival + w1 * distance_improvement + w2 * target_proximity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 sz="1800"/>
              <a:t>Taking 10 MuJoCo physics steps per 1 env step</a:t>
            </a:r>
            <a:endParaRPr b="1"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Previously, env / MuJoCo steps were one-to-one</a:t>
            </a:r>
            <a:endParaRPr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observation delay allows less reactive commands (roll/pitch/yaw) to have a more visible effect to the agent, and simulates actual control-observation delay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 sz="1800"/>
              <a:t>Curriculum of gradually increasing difficulty</a:t>
            </a:r>
            <a:endParaRPr b="1"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During training, gradually scale up the drone’s random initial position, rotation, and velocities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 sz="1800"/>
              <a:t>Results</a:t>
            </a:r>
            <a:r>
              <a:rPr lang="en" sz="1800"/>
              <a:t>: Successful XYZ hover within ~1m (crashes when further)</a:t>
            </a:r>
            <a:endParaRPr sz="18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6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Plan for the Next Two Weeks</a:t>
            </a:r>
            <a:endParaRPr/>
          </a:p>
        </p:txBody>
      </p:sp>
      <p:sp>
        <p:nvSpPr>
          <p:cNvPr id="260" name="Google Shape;260;p46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"/>
              <a:t>Goals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Extend XYZ hover to greater distances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Learn about MAPPO theory, begin implementation</a:t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"/>
              <a:t>Dependencies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Research dynamic XYZ hover strategies and MAPPO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7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Roadmap Checkpoint</a:t>
            </a:r>
            <a:endParaRPr/>
          </a:p>
        </p:txBody>
      </p:sp>
      <p:sp>
        <p:nvSpPr>
          <p:cNvPr id="266" name="Google Shape;266;p47"/>
          <p:cNvSpPr txBox="1"/>
          <p:nvPr>
            <p:ph idx="1" type="body"/>
          </p:nvPr>
        </p:nvSpPr>
        <p:spPr>
          <a:xfrm>
            <a:off x="628650" y="1369226"/>
            <a:ext cx="7886700" cy="35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2: Imperfect single agent hovering at target on Z axis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4: Successful [0, 0, Z] hover, imperfect [0, Y, Z] hover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6: Successful XYZ hover within small ranges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8: ___</a:t>
            </a:r>
            <a:endParaRPr sz="1800"/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Final deadline: Deliverables (e.g., report, demo, paper draft)</a:t>
            </a:r>
            <a:endParaRPr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Early December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Shifts in schedule</a:t>
            </a:r>
            <a:endParaRPr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Relatively on track, hoping to get better ranges for XYZ and a baseline MAPPO implementation by next meeting</a:t>
            </a:r>
            <a:endParaRPr sz="18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8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Discussion Points / Questions </a:t>
            </a:r>
            <a:endParaRPr/>
          </a:p>
        </p:txBody>
      </p:sp>
      <p:sp>
        <p:nvSpPr>
          <p:cNvPr id="272" name="Google Shape;272;p48"/>
          <p:cNvSpPr txBox="1"/>
          <p:nvPr>
            <p:ph idx="1" type="body"/>
          </p:nvPr>
        </p:nvSpPr>
        <p:spPr>
          <a:xfrm>
            <a:off x="628650" y="1171425"/>
            <a:ext cx="7886700" cy="3648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lnSpcReduction="20000"/>
          </a:bodyPr>
          <a:lstStyle/>
          <a:p>
            <a:pPr indent="-158750" lvl="0" marL="177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●"/>
            </a:pPr>
            <a:r>
              <a:rPr b="1" lang="en" sz="1900"/>
              <a:t>Extending to any range in XYZ?</a:t>
            </a:r>
            <a:endParaRPr b="1" sz="1900"/>
          </a:p>
          <a:p>
            <a:pPr indent="-209550" lvl="1" marL="520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Currently, the curriculum scales the initial starting position up to 0.5m (10 curriculum stages, start at 0.05m, +0.05m each stage)</a:t>
            </a:r>
            <a:endParaRPr sz="1900"/>
          </a:p>
          <a:p>
            <a:pPr indent="-20955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</a:pPr>
            <a:r>
              <a:rPr lang="en" sz="1900"/>
              <a:t>Extending the curriculum has helped, but this linearly scales the training time and does not generalize to any XYZ</a:t>
            </a:r>
            <a:endParaRPr sz="1900"/>
          </a:p>
          <a:p>
            <a:pPr indent="-20955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</a:pPr>
            <a:r>
              <a:rPr lang="en" sz="1900"/>
              <a:t>Currently, successful XYZ hover within ~1m takes ~15 minutes</a:t>
            </a:r>
            <a:endParaRPr sz="1900"/>
          </a:p>
          <a:p>
            <a:pPr indent="-209550" lvl="3" marL="12065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8 parallel environments, 600k steps per env, 4.6 million total</a:t>
            </a:r>
            <a:endParaRPr sz="1900"/>
          </a:p>
          <a:p>
            <a:pPr indent="-209550" lvl="1" marL="520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Strategies?</a:t>
            </a:r>
            <a:endParaRPr sz="1900"/>
          </a:p>
          <a:p>
            <a:pPr indent="-20955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</a:pPr>
            <a:r>
              <a:rPr lang="en" sz="1900"/>
              <a:t>Break up large </a:t>
            </a:r>
            <a:r>
              <a:rPr lang="en" sz="1900"/>
              <a:t>journeys</a:t>
            </a:r>
            <a:r>
              <a:rPr lang="en" sz="1900"/>
              <a:t> + pathfinding between checkpoints?</a:t>
            </a:r>
            <a:endParaRPr sz="1900"/>
          </a:p>
          <a:p>
            <a:pPr indent="-20955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</a:pPr>
            <a:r>
              <a:rPr lang="en" sz="1900"/>
              <a:t>Reshape rewards and/or observations for longer journeys?</a:t>
            </a:r>
            <a:endParaRPr sz="1900"/>
          </a:p>
          <a:p>
            <a:pPr indent="-209550" lvl="3" marL="12065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E.g. rewarding stable flight </a:t>
            </a:r>
            <a:r>
              <a:rPr lang="en" sz="1900"/>
              <a:t>throughout</a:t>
            </a:r>
            <a:r>
              <a:rPr lang="en" sz="1900"/>
              <a:t> entire journey might help drone navigate to far targets without crashing (?)</a:t>
            </a:r>
            <a:endParaRPr sz="19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49"/>
          <p:cNvSpPr txBox="1"/>
          <p:nvPr>
            <p:ph type="title"/>
          </p:nvPr>
        </p:nvSpPr>
        <p:spPr>
          <a:xfrm>
            <a:off x="628650" y="152119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Log Snapshot (Cumulative)</a:t>
            </a:r>
            <a:endParaRPr/>
          </a:p>
        </p:txBody>
      </p:sp>
      <p:graphicFrame>
        <p:nvGraphicFramePr>
          <p:cNvPr id="278" name="Google Shape;278;p49"/>
          <p:cNvGraphicFramePr/>
          <p:nvPr/>
        </p:nvGraphicFramePr>
        <p:xfrm>
          <a:off x="1071015" y="114633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{7EEF7216-85A2-4925-B9AA-697F3AFA3D84}</a:tableStyleId>
              </a:tblPr>
              <a:tblGrid>
                <a:gridCol w="1531600"/>
                <a:gridCol w="1531600"/>
                <a:gridCol w="1531600"/>
                <a:gridCol w="1531600"/>
              </a:tblGrid>
              <a:tr h="6021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 sz="1400" u="none" cap="none" strike="noStrike"/>
                        <a:t>Date</a:t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Progress  Summary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Next Steps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Notes</a:t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</a:tr>
              <a:tr h="760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Sept. 1</a:t>
                      </a:r>
                      <a:r>
                        <a:rPr lang="en"/>
                        <a:t>6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Set up MuJoCo sim; baseline PPO-Clip training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>
                          <a:latin typeface="Arial"/>
                          <a:ea typeface="Arial"/>
                          <a:cs typeface="Arial"/>
                          <a:sym typeface="Arial"/>
                        </a:rPr>
                        <a:t>Refine current setup, explore MAPPO theory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>
                          <a:latin typeface="Arial"/>
                          <a:ea typeface="Arial"/>
                          <a:cs typeface="Arial"/>
                          <a:sym typeface="Arial"/>
                        </a:rPr>
                        <a:t>Policy / env is current imperfect / inconsistent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</a:tr>
              <a:tr h="8112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cap="none" strike="noStrike"/>
                        <a:t>Sept. 30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/>
                        <a:t>Successful Z hover.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/>
                        <a:t>Semi-successful YZ hover</a:t>
                      </a:r>
                      <a:endParaRPr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/>
                        <a:t>Refine YZ hover and move to XYZ, explore MAPPO theory</a:t>
                      </a:r>
                      <a:endParaRPr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/>
                </a:tc>
              </a:tr>
              <a:tr h="342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Oct. 14</a:t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Small XYZ hover</a:t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Full XYZ hover and MAPPO implementation</a:t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/>
                    </a:p>
                  </a:txBody>
                  <a:tcPr marT="34300" marB="34300" marR="68600" marL="68600"/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50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lt1"/>
                </a:solidFill>
              </a:rPr>
              <a:t>Week 6-8</a:t>
            </a:r>
            <a:endParaRPr sz="4200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4200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lt1"/>
                </a:solidFill>
              </a:rPr>
              <a:t>XYZ hover within any range + Baseline MARL implementation</a:t>
            </a:r>
            <a:endParaRPr sz="42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51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rPr lang="en"/>
              <a:t>MIRL LAB Honours Project Bi-Weekly Update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t/>
            </a:r>
            <a:endParaRPr/>
          </a:p>
        </p:txBody>
      </p:sp>
      <p:sp>
        <p:nvSpPr>
          <p:cNvPr id="289" name="Google Shape;289;p51"/>
          <p:cNvSpPr txBox="1"/>
          <p:nvPr>
            <p:ph idx="1" type="subTitle"/>
          </p:nvPr>
        </p:nvSpPr>
        <p:spPr>
          <a:xfrm>
            <a:off x="961950" y="2701524"/>
            <a:ext cx="72201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MARL Crazyflie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Michael O’Sullivan, Aydin Yalcinkaya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Using MARL to learn safe take-off and hover policies for Crazyflie drones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CrazyFlie, MuJuCo, Gymnasium, PyTorch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t/>
            </a:r>
            <a:endParaRPr sz="11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52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Progress Recap</a:t>
            </a:r>
            <a:endParaRPr/>
          </a:p>
        </p:txBody>
      </p:sp>
      <p:sp>
        <p:nvSpPr>
          <p:cNvPr id="295" name="Google Shape;295;p52"/>
          <p:cNvSpPr txBox="1"/>
          <p:nvPr>
            <p:ph idx="1" type="body"/>
          </p:nvPr>
        </p:nvSpPr>
        <p:spPr>
          <a:xfrm>
            <a:off x="417400" y="1369225"/>
            <a:ext cx="8267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Goal</a:t>
            </a:r>
            <a:r>
              <a:rPr lang="en" sz="1800"/>
              <a:t>: Implementing MARL on Crazyflie drones for safe hovering and navigation</a:t>
            </a:r>
            <a:endParaRPr sz="18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/>
              <a:t>Progress</a:t>
            </a:r>
            <a:endParaRPr sz="18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Base environment for training a single drone to hover at a target</a:t>
            </a:r>
            <a:endParaRPr sz="18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Vectorized single agent PPO-Clip that interacts with the environment</a:t>
            </a:r>
            <a:endParaRPr sz="1800"/>
          </a:p>
          <a:p>
            <a:pPr indent="-342900" lvl="1" marL="914400" rtl="0" algn="l">
              <a:spcBef>
                <a:spcPts val="40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Runs 1 or more environments in parallel for better sampling</a:t>
            </a:r>
            <a:endParaRPr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Engineered features to help the agent understand observation relationships</a:t>
            </a:r>
            <a:endParaRPr sz="18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Single agent XYZ hover within most ranges (high success rate, not perfect)</a:t>
            </a:r>
            <a:endParaRPr sz="18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Baseline MAPPO implementation with sparse success rates</a:t>
            </a:r>
            <a:endParaRPr sz="18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53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Progress Since Last Meeting </a:t>
            </a:r>
            <a:endParaRPr/>
          </a:p>
        </p:txBody>
      </p:sp>
      <p:sp>
        <p:nvSpPr>
          <p:cNvPr id="301" name="Google Shape;301;p53"/>
          <p:cNvSpPr txBox="1"/>
          <p:nvPr>
            <p:ph idx="1" type="body"/>
          </p:nvPr>
        </p:nvSpPr>
        <p:spPr>
          <a:xfrm>
            <a:off x="511650" y="1268050"/>
            <a:ext cx="8119200" cy="36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b="1" lang="en" sz="1800"/>
              <a:t>MAPPO implementation</a:t>
            </a:r>
            <a:endParaRPr b="1"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Centralized critic (sees all obs), Decentralized actors (see their obs)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 sz="1800"/>
              <a:t>Multi-agent rewards</a:t>
            </a:r>
            <a:endParaRPr b="1"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-n1 for drone </a:t>
            </a:r>
            <a:r>
              <a:rPr lang="en"/>
              <a:t>collision</a:t>
            </a:r>
            <a:r>
              <a:rPr lang="en"/>
              <a:t> (terminal), </a:t>
            </a:r>
            <a:r>
              <a:rPr lang="en"/>
              <a:t>-n2 for proximity to other drone(s)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 sz="1800"/>
              <a:t>New training setup for single/multi drones</a:t>
            </a:r>
            <a:endParaRPr b="1"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No curriculum, sampling from normal distribution for pos/quat/vel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 sz="1800"/>
              <a:t>Results</a:t>
            </a:r>
            <a:r>
              <a:rPr lang="en" sz="1800"/>
              <a:t>: Successful single XYZ hover within most* XYZ (tested ~7m)</a:t>
            </a:r>
            <a:endParaRPr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Multi-agent hover rarely truncates (succeeds), drones often hover about the target for a while before one of the collides/crashes</a:t>
            </a:r>
            <a:endParaRPr/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Any XYZ success largely due to “normalizing” relative pos to target</a:t>
            </a:r>
            <a:endParaRPr/>
          </a:p>
          <a:p>
            <a: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Feature: Relative pos in body coordinates / initial distance to target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54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Progress Since Last Meeting (cont.) </a:t>
            </a:r>
            <a:endParaRPr/>
          </a:p>
        </p:txBody>
      </p:sp>
      <p:sp>
        <p:nvSpPr>
          <p:cNvPr id="307" name="Google Shape;307;p54"/>
          <p:cNvSpPr txBox="1"/>
          <p:nvPr>
            <p:ph idx="1" type="body"/>
          </p:nvPr>
        </p:nvSpPr>
        <p:spPr>
          <a:xfrm>
            <a:off x="511650" y="1268050"/>
            <a:ext cx="8119200" cy="36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b="1" lang="en" sz="1800"/>
              <a:t>Domain Randomization</a:t>
            </a:r>
            <a:endParaRPr b="1"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Adding noise to sensor readings like position, orientation, velocity</a:t>
            </a:r>
            <a:endParaRPr/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Adding latency to sensor inputs, occasionally dropping readings</a:t>
            </a:r>
            <a:endParaRPr/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Still need to implement accurate polling rate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Plan for the Next Two Weeks</a:t>
            </a:r>
            <a:endParaRPr/>
          </a:p>
        </p:txBody>
      </p:sp>
      <p:sp>
        <p:nvSpPr>
          <p:cNvPr id="313" name="Google Shape;313;p55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"/>
              <a:t>Goals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Successful MARL for 2 drones (hovering at a target without colliding)</a:t>
            </a:r>
            <a:endParaRPr/>
          </a:p>
          <a:p>
            <a:pPr indent="-177800" lvl="2" marL="8636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Possibly adding / testing with domain randomization as well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Prepare to test on actual drones</a:t>
            </a:r>
            <a:endParaRPr/>
          </a:p>
          <a:p>
            <a:pPr indent="-177800" lvl="2" marL="8636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Maybe test single-agent hover on actual drone</a:t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"/>
              <a:t>Dependencies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None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6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Roadmap Checkpoint</a:t>
            </a:r>
            <a:endParaRPr/>
          </a:p>
        </p:txBody>
      </p:sp>
      <p:sp>
        <p:nvSpPr>
          <p:cNvPr id="319" name="Google Shape;319;p56"/>
          <p:cNvSpPr txBox="1"/>
          <p:nvPr>
            <p:ph idx="1" type="body"/>
          </p:nvPr>
        </p:nvSpPr>
        <p:spPr>
          <a:xfrm>
            <a:off x="628650" y="1369226"/>
            <a:ext cx="7886700" cy="35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2: Imperfect single agent hovering at target on Z axis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4: Successful [0, 0, Z] hover, imperfect [0, Y, Z] hover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6: Successful XYZ hover within small ranges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8: Successful XYZ hover within most ranges, </a:t>
            </a:r>
            <a:r>
              <a:rPr lang="en" sz="1800"/>
              <a:t>baseline</a:t>
            </a:r>
            <a:r>
              <a:rPr lang="en" sz="1800"/>
              <a:t> MARL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10: …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Final deadline: Deliverables (e.g., report, demo, paper draft)</a:t>
            </a:r>
            <a:endParaRPr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Early December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Shifts in schedule</a:t>
            </a:r>
            <a:endParaRPr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On track</a:t>
            </a:r>
            <a:endParaRPr sz="18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7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Projected Progress for Final Meeting</a:t>
            </a:r>
            <a:endParaRPr/>
          </a:p>
        </p:txBody>
      </p:sp>
      <p:sp>
        <p:nvSpPr>
          <p:cNvPr id="325" name="Google Shape;325;p57"/>
          <p:cNvSpPr txBox="1"/>
          <p:nvPr>
            <p:ph idx="1" type="body"/>
          </p:nvPr>
        </p:nvSpPr>
        <p:spPr>
          <a:xfrm>
            <a:off x="628650" y="1369226"/>
            <a:ext cx="7886700" cy="35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Now (</a:t>
            </a:r>
            <a:r>
              <a:rPr lang="en" sz="1800"/>
              <a:t>end</a:t>
            </a:r>
            <a:r>
              <a:rPr lang="en" sz="1800"/>
              <a:t> of </a:t>
            </a:r>
            <a:r>
              <a:rPr lang="en" sz="1800"/>
              <a:t>October</a:t>
            </a:r>
            <a:r>
              <a:rPr lang="en" sz="1800"/>
              <a:t>)</a:t>
            </a:r>
            <a:endParaRPr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In simulation, getting </a:t>
            </a:r>
            <a:r>
              <a:rPr lang="en"/>
              <a:t>semi-</a:t>
            </a:r>
            <a:r>
              <a:rPr lang="en"/>
              <a:t>successful multi-agent hover</a:t>
            </a:r>
            <a:r>
              <a:rPr lang="en"/>
              <a:t> (getting successful hover might just be a compute issue)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Final meeting (end of November)</a:t>
            </a:r>
            <a:endParaRPr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Successful multi-agent (2 drones) hover at a target in XYZ in simulation → Testing (and possibly success) on 2 real drones</a:t>
            </a:r>
            <a:endParaRPr sz="18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58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Discussion Points / Questions </a:t>
            </a:r>
            <a:endParaRPr/>
          </a:p>
        </p:txBody>
      </p:sp>
      <p:sp>
        <p:nvSpPr>
          <p:cNvPr id="331" name="Google Shape;331;p58"/>
          <p:cNvSpPr txBox="1"/>
          <p:nvPr>
            <p:ph idx="1" type="body"/>
          </p:nvPr>
        </p:nvSpPr>
        <p:spPr>
          <a:xfrm>
            <a:off x="628650" y="1171425"/>
            <a:ext cx="7886700" cy="3648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lnSpcReduction="10000"/>
          </a:bodyPr>
          <a:lstStyle/>
          <a:p>
            <a:pPr indent="-209550" lvl="0" marL="177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b="1" lang="en" sz="1900"/>
              <a:t>Testing on actual drones</a:t>
            </a:r>
            <a:endParaRPr b="1" sz="1900"/>
          </a:p>
          <a:p>
            <a:pPr indent="-209550" lvl="1" marL="520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Booking </a:t>
            </a:r>
            <a:r>
              <a:rPr lang="en" sz="1900"/>
              <a:t>time slots</a:t>
            </a:r>
            <a:r>
              <a:rPr lang="en" sz="1900"/>
              <a:t> (how / what is the setup like)?</a:t>
            </a:r>
            <a:endParaRPr sz="1900"/>
          </a:p>
          <a:p>
            <a:pPr indent="-209550" lvl="1" marL="520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Safety considerations</a:t>
            </a:r>
            <a:endParaRPr sz="1900"/>
          </a:p>
          <a:p>
            <a:pPr indent="-20955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</a:pPr>
            <a:r>
              <a:rPr lang="en" sz="1900"/>
              <a:t>What kind of fallbacks should we program into the agent?</a:t>
            </a:r>
            <a:endParaRPr sz="1900"/>
          </a:p>
          <a:p>
            <a:pPr indent="-209550" lvl="3" marL="12065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E.g. if pos/rot/vel &gt; n → Apply neutral hover control?</a:t>
            </a:r>
            <a:endParaRPr sz="1900"/>
          </a:p>
          <a:p>
            <a:pPr indent="-209550" lvl="3" marL="12065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Physical safety constraints e.g. tether to drone?</a:t>
            </a:r>
            <a:endParaRPr sz="1900"/>
          </a:p>
          <a:p>
            <a:pPr indent="-20955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</a:pPr>
            <a:r>
              <a:rPr lang="en" sz="1900"/>
              <a:t>Landing → Run for t seconds then apply sub-neutral thrust?</a:t>
            </a:r>
            <a:endParaRPr sz="1900"/>
          </a:p>
          <a:p>
            <a:pPr indent="-209550" lvl="3" marL="12065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E.g. after 10 seconds, apply (hover thrust - 0.01)?</a:t>
            </a:r>
            <a:endParaRPr sz="1900"/>
          </a:p>
          <a:p>
            <a:pPr indent="-209550" lvl="0" marL="177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b="1" lang="en" sz="1900"/>
              <a:t>Multi-XYZ success → Improvement suggestions?</a:t>
            </a:r>
            <a:endParaRPr b="1" sz="1900"/>
          </a:p>
          <a:p>
            <a:pPr indent="-209550" lvl="1" marL="520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Any other suggestions / ideas?</a:t>
            </a:r>
            <a:endParaRPr sz="1900"/>
          </a:p>
          <a:p>
            <a:pPr indent="-209550" lvl="1" marL="520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Currently has ~50% success rate at best, see next slides</a:t>
            </a:r>
            <a:endParaRPr sz="190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59"/>
          <p:cNvSpPr txBox="1"/>
          <p:nvPr>
            <p:ph type="title"/>
          </p:nvPr>
        </p:nvSpPr>
        <p:spPr>
          <a:xfrm>
            <a:off x="628650" y="273850"/>
            <a:ext cx="8055900" cy="9942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/>
              <a:t>Multi-Agent training, 40 envs, 600k steps per → ~2hrs</a:t>
            </a:r>
            <a:endParaRPr sz="2400"/>
          </a:p>
        </p:txBody>
      </p:sp>
      <p:pic>
        <p:nvPicPr>
          <p:cNvPr id="337" name="Google Shape;337;p59" title="multi_40env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1213" y="1097300"/>
            <a:ext cx="7661575" cy="3830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60"/>
          <p:cNvSpPr txBox="1"/>
          <p:nvPr>
            <p:ph type="title"/>
          </p:nvPr>
        </p:nvSpPr>
        <p:spPr>
          <a:xfrm>
            <a:off x="628650" y="273850"/>
            <a:ext cx="8055900" cy="9942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/>
              <a:t>Multi-Agent training, 40 envs, 2.4mil steps per → ~8hrs</a:t>
            </a:r>
            <a:endParaRPr sz="2400"/>
          </a:p>
        </p:txBody>
      </p:sp>
      <p:pic>
        <p:nvPicPr>
          <p:cNvPr id="343" name="Google Shape;343;p60" title="40env_2mil_400k_step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1350" y="1164625"/>
            <a:ext cx="7141300" cy="3570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61"/>
          <p:cNvSpPr txBox="1"/>
          <p:nvPr>
            <p:ph type="title"/>
          </p:nvPr>
        </p:nvSpPr>
        <p:spPr>
          <a:xfrm>
            <a:off x="628650" y="152123"/>
            <a:ext cx="7886700" cy="69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 sz="2400"/>
              <a:t>Log Snapshot (Cumulative)</a:t>
            </a:r>
            <a:endParaRPr sz="2400"/>
          </a:p>
        </p:txBody>
      </p:sp>
      <p:graphicFrame>
        <p:nvGraphicFramePr>
          <p:cNvPr id="349" name="Google Shape;349;p61"/>
          <p:cNvGraphicFramePr/>
          <p:nvPr/>
        </p:nvGraphicFramePr>
        <p:xfrm>
          <a:off x="1071015" y="84843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{7EEF7216-85A2-4925-B9AA-697F3AFA3D84}</a:tableStyleId>
              </a:tblPr>
              <a:tblGrid>
                <a:gridCol w="1531600"/>
                <a:gridCol w="1531600"/>
                <a:gridCol w="1531600"/>
                <a:gridCol w="1531600"/>
              </a:tblGrid>
              <a:tr h="6021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 sz="1400" u="none" cap="none" strike="noStrike"/>
                        <a:t>Date</a:t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Progress  Summary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Next Steps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Notes</a:t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</a:tr>
              <a:tr h="823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Sept. 1</a:t>
                      </a:r>
                      <a:r>
                        <a:rPr lang="en"/>
                        <a:t>6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Set up MuJoCo sim; baseline PPO-Clip training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>
                          <a:latin typeface="Arial"/>
                          <a:ea typeface="Arial"/>
                          <a:cs typeface="Arial"/>
                          <a:sym typeface="Arial"/>
                        </a:rPr>
                        <a:t>Refine current setup, explore MAPPO theory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>
                          <a:latin typeface="Arial"/>
                          <a:ea typeface="Arial"/>
                          <a:cs typeface="Arial"/>
                          <a:sym typeface="Arial"/>
                        </a:rPr>
                        <a:t>Policy / env is current imperfect / inconsistent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</a:tr>
              <a:tr h="8112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cap="none" strike="noStrike"/>
                        <a:t>Sept. 30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/>
                        <a:t>Successful Z hover.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/>
                        <a:t>Semi-successful YZ hover</a:t>
                      </a:r>
                      <a:endParaRPr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/>
                        <a:t>Refine YZ hover and move to XYZ, explore MAPPO theory</a:t>
                      </a:r>
                      <a:endParaRPr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/>
                </a:tc>
              </a:tr>
              <a:tr h="342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Oct. 14</a:t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Small XYZ hover</a:t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Full XYZ hover and MAPPO implementation</a:t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/>
                    </a:p>
                  </a:txBody>
                  <a:tcPr marT="34300" marB="34300" marR="68600" marL="68600"/>
                </a:tc>
              </a:tr>
              <a:tr h="342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Oct 28</a:t>
                      </a:r>
                      <a:endParaRPr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Single + Multi XYZ hover</a:t>
                      </a:r>
                      <a:endParaRPr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Better multi-XYZ hover, testing on actual drones</a:t>
                      </a:r>
                      <a:endParaRPr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/>
                    </a:p>
                  </a:txBody>
                  <a:tcPr marT="34300" marB="34300" marR="68600" marL="68600"/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lt1"/>
                </a:solidFill>
              </a:rPr>
              <a:t>Week 8-10</a:t>
            </a:r>
            <a:endParaRPr sz="4200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4200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lt1"/>
                </a:solidFill>
              </a:rPr>
              <a:t>XYZ hover using MuJoCo MJX GPU training</a:t>
            </a:r>
            <a:endParaRPr sz="42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63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rPr lang="en"/>
              <a:t>MIRL LAB Honours Project Bi-Weekly Update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t/>
            </a:r>
            <a:endParaRPr/>
          </a:p>
        </p:txBody>
      </p:sp>
      <p:sp>
        <p:nvSpPr>
          <p:cNvPr id="360" name="Google Shape;360;p63"/>
          <p:cNvSpPr txBox="1"/>
          <p:nvPr>
            <p:ph idx="1" type="subTitle"/>
          </p:nvPr>
        </p:nvSpPr>
        <p:spPr>
          <a:xfrm>
            <a:off x="961950" y="2701524"/>
            <a:ext cx="72201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MARL Crazyflie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Michael O’Sullivan, Aydin Yalcinkaya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Using MARL to learn safe take-off and hover policies for Crazyflie drones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CrazyFlie, MuJuCo, Gymnasium, PyTorch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t/>
            </a:r>
            <a:endParaRPr sz="110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64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Progress Recap</a:t>
            </a:r>
            <a:endParaRPr/>
          </a:p>
        </p:txBody>
      </p:sp>
      <p:sp>
        <p:nvSpPr>
          <p:cNvPr id="366" name="Google Shape;366;p64"/>
          <p:cNvSpPr txBox="1"/>
          <p:nvPr>
            <p:ph idx="1" type="body"/>
          </p:nvPr>
        </p:nvSpPr>
        <p:spPr>
          <a:xfrm>
            <a:off x="417400" y="1369225"/>
            <a:ext cx="8267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2500" lnSpcReduction="20000"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Goal</a:t>
            </a:r>
            <a:r>
              <a:rPr lang="en" sz="1800"/>
              <a:t>: Implementing MARL on Crazyflie drones for safe hovering and navigation</a:t>
            </a:r>
            <a:endParaRPr sz="18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/>
              <a:t>Progress</a:t>
            </a:r>
            <a:endParaRPr sz="1800"/>
          </a:p>
          <a:p>
            <a:pPr indent="-340201" lvl="0" marL="4572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ct val="100000"/>
              <a:buChar char="●"/>
            </a:pPr>
            <a:r>
              <a:rPr lang="en" sz="1900"/>
              <a:t>Re-implement environment using MuJoCo MJX to allow for GPU training</a:t>
            </a:r>
            <a:endParaRPr sz="1900"/>
          </a:p>
          <a:p>
            <a:pPr indent="-340201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" sz="1900"/>
              <a:t>Done via MuJoCo playground + Brax + Jax</a:t>
            </a:r>
            <a:endParaRPr sz="1900"/>
          </a:p>
          <a:p>
            <a:pPr indent="-340201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" sz="1900"/>
              <a:t>Running on Google Colab (Jax GPU is built for Linux)</a:t>
            </a:r>
            <a:endParaRPr sz="1900"/>
          </a:p>
          <a:p>
            <a:pPr indent="-340201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■"/>
            </a:pPr>
            <a:r>
              <a:rPr lang="en" sz="1900"/>
              <a:t>Not easily ran from Windows and can’t run from mac</a:t>
            </a:r>
            <a:endParaRPr sz="1900"/>
          </a:p>
          <a:p>
            <a:pPr indent="-340201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" sz="1900"/>
              <a:t>Motivation: Semi-successful multi-agent training was taking ~8 hours</a:t>
            </a:r>
            <a:endParaRPr sz="1900"/>
          </a:p>
          <a:p>
            <a:pPr indent="-340201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■"/>
            </a:pPr>
            <a:r>
              <a:rPr lang="en" sz="1900"/>
              <a:t>Difficult to iterate upon and experiment with, need faster training</a:t>
            </a:r>
            <a:endParaRPr sz="1900"/>
          </a:p>
          <a:p>
            <a:pPr indent="-340201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■"/>
            </a:pPr>
            <a:r>
              <a:rPr lang="en" sz="1900"/>
              <a:t>Also possible that successful MARL simply requires more compute</a:t>
            </a:r>
            <a:endParaRPr sz="1900"/>
          </a:p>
          <a:p>
            <a:pPr indent="-340201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 sz="1900"/>
              <a:t>Put together model -&gt; hardware runner file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b="1" sz="180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65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Progress Since Last Meeting </a:t>
            </a:r>
            <a:endParaRPr/>
          </a:p>
        </p:txBody>
      </p:sp>
      <p:sp>
        <p:nvSpPr>
          <p:cNvPr id="372" name="Google Shape;372;p65"/>
          <p:cNvSpPr txBox="1"/>
          <p:nvPr>
            <p:ph idx="1" type="body"/>
          </p:nvPr>
        </p:nvSpPr>
        <p:spPr>
          <a:xfrm>
            <a:off x="396150" y="1268050"/>
            <a:ext cx="8328900" cy="36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800"/>
              <a:t>Create Google Collab notebook for MuJoCo MJX + Jax</a:t>
            </a:r>
            <a:endParaRPr sz="18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 sz="1500"/>
              <a:t>Setup environment for n drones (can run with 1 or 2 right now)</a:t>
            </a:r>
            <a:endParaRPr sz="15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 sz="1800"/>
              <a:t>Results</a:t>
            </a:r>
            <a:endParaRPr sz="1800"/>
          </a:p>
          <a:p>
            <a:pPr indent="-3111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</a:pPr>
            <a:r>
              <a:rPr lang="en" sz="1700"/>
              <a:t>Very stable XYZ hover (single drone)</a:t>
            </a:r>
            <a:endParaRPr sz="1700"/>
          </a:p>
          <a:p>
            <a: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2048 envs, 75 million </a:t>
            </a:r>
            <a:r>
              <a:rPr lang="en"/>
              <a:t>steps ~ 20 minutes in Collab</a:t>
            </a:r>
            <a:endParaRPr/>
          </a:p>
          <a:p>
            <a: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Minimal obs → High compute reduces need for engineered features</a:t>
            </a:r>
            <a:endParaRPr/>
          </a:p>
          <a:p>
            <a: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Pos, Rot matrix, Vel, Ang vel + Rel target pos in body &amp; vel in body &amp; act history</a:t>
            </a:r>
            <a:endParaRPr/>
          </a:p>
          <a:p>
            <a:pPr indent="-3111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</a:pPr>
            <a:r>
              <a:rPr lang="en" sz="1700"/>
              <a:t>Unsuccessful 2-drone hover for now (drones thrust then fall)</a:t>
            </a:r>
            <a:endParaRPr sz="1700"/>
          </a:p>
          <a:p>
            <a: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Tested with 150 million steps, will investigate more</a:t>
            </a:r>
            <a:endParaRPr/>
          </a:p>
          <a:p>
            <a: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Multi-agent approach uses centralized PPO instead of MAPPO (basically single-agent where a “dispatcher” sees both drone obs and controls both)</a:t>
            </a:r>
            <a:endParaRPr/>
          </a:p>
          <a:p>
            <a: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Using Brax for training (Jax wrapper) which does not support MAPPO (in which agents act on their individual obs with a centralized critic)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66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Plan for the Next Two Weeks</a:t>
            </a:r>
            <a:endParaRPr/>
          </a:p>
        </p:txBody>
      </p:sp>
      <p:sp>
        <p:nvSpPr>
          <p:cNvPr id="378" name="Google Shape;378;p66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"/>
              <a:t>Goals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Get successful 2-drone hover using MuJoCo MJX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Prepare to test on actual drones (cf2 API + safety constraints)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Test on actual drones</a:t>
            </a:r>
            <a:endParaRPr/>
          </a:p>
          <a:p>
            <a:pPr indent="-177800" lvl="2" marL="8636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Maybe test single-agent hover on actual drone if multi-agent not successful</a:t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"/>
              <a:t>Dependencies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Access to physical drones</a:t>
            </a:r>
            <a:endParaRPr/>
          </a:p>
          <a:p>
            <a:pPr indent="-177800" lvl="2" marL="8636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Link to WHMIS training that needs to be taken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67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Roadmap Checkpoint</a:t>
            </a:r>
            <a:endParaRPr/>
          </a:p>
        </p:txBody>
      </p:sp>
      <p:sp>
        <p:nvSpPr>
          <p:cNvPr id="384" name="Google Shape;384;p67"/>
          <p:cNvSpPr txBox="1"/>
          <p:nvPr>
            <p:ph idx="1" type="body"/>
          </p:nvPr>
        </p:nvSpPr>
        <p:spPr>
          <a:xfrm>
            <a:off x="628650" y="1369226"/>
            <a:ext cx="7886700" cy="35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2: Imperfect single agent hovering at target on Z axis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4: Successful [0, 0, Z] hover, imperfect [0, Y, Z] hover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6: Successful XYZ hover within small ranges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8: Successful XYZ hover within most ranges, baseline MARL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10: Successful single XYZ hover using MJX, MARL not there yet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12: __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Final deadline: Deliverables (e.g., report, demo, paper draft)</a:t>
            </a:r>
            <a:endParaRPr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Early December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Shifts in schedule</a:t>
            </a:r>
            <a:endParaRPr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On track</a:t>
            </a:r>
            <a:endParaRPr sz="180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68"/>
          <p:cNvSpPr txBox="1"/>
          <p:nvPr>
            <p:ph type="title"/>
          </p:nvPr>
        </p:nvSpPr>
        <p:spPr>
          <a:xfrm>
            <a:off x="628650" y="152123"/>
            <a:ext cx="7886700" cy="69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 sz="2400"/>
              <a:t>Log Snapshot (Cumulative)</a:t>
            </a:r>
            <a:endParaRPr sz="2400"/>
          </a:p>
        </p:txBody>
      </p:sp>
      <p:graphicFrame>
        <p:nvGraphicFramePr>
          <p:cNvPr id="390" name="Google Shape;390;p68"/>
          <p:cNvGraphicFramePr/>
          <p:nvPr/>
        </p:nvGraphicFramePr>
        <p:xfrm>
          <a:off x="1071015" y="84843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{7EEF7216-85A2-4925-B9AA-697F3AFA3D84}</a:tableStyleId>
              </a:tblPr>
              <a:tblGrid>
                <a:gridCol w="1531600"/>
                <a:gridCol w="1531600"/>
                <a:gridCol w="1531600"/>
                <a:gridCol w="1531600"/>
              </a:tblGrid>
              <a:tr h="6021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 sz="1400" u="none" cap="none" strike="noStrike"/>
                        <a:t>Date</a:t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Progress  Summary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Next Steps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Notes</a:t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</a:tr>
              <a:tr h="823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Sept. 1</a:t>
                      </a:r>
                      <a:r>
                        <a:rPr lang="en"/>
                        <a:t>6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Set up MuJoCo sim; baseline PPO-Clip training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>
                          <a:latin typeface="Arial"/>
                          <a:ea typeface="Arial"/>
                          <a:cs typeface="Arial"/>
                          <a:sym typeface="Arial"/>
                        </a:rPr>
                        <a:t>Refine current setup, explore MAPPO theory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>
                          <a:latin typeface="Arial"/>
                          <a:ea typeface="Arial"/>
                          <a:cs typeface="Arial"/>
                          <a:sym typeface="Arial"/>
                        </a:rPr>
                        <a:t>Policy / env is current imperfect / inconsistent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</a:tr>
              <a:tr h="8112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cap="none" strike="noStrike"/>
                        <a:t>Sept. 30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/>
                        <a:t>Successful Z hover.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/>
                        <a:t>Semi-successful YZ hover</a:t>
                      </a:r>
                      <a:endParaRPr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/>
                        <a:t>Refine YZ hover and move to XYZ, explore MAPPO theory</a:t>
                      </a:r>
                      <a:endParaRPr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/>
                </a:tc>
              </a:tr>
              <a:tr h="342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Oct. 14</a:t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Small XYZ hover</a:t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Full XYZ hover and MAPPO implementation</a:t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/>
                    </a:p>
                  </a:txBody>
                  <a:tcPr marT="34300" marB="34300" marR="68600" marL="68600"/>
                </a:tc>
              </a:tr>
              <a:tr h="342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Oct 28</a:t>
                      </a:r>
                      <a:endParaRPr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Single + Multi XYZ hover</a:t>
                      </a:r>
                      <a:endParaRPr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Better multi-XYZ hover, testing on actual drones</a:t>
                      </a:r>
                      <a:endParaRPr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/>
                    </a:p>
                  </a:txBody>
                  <a:tcPr marT="34300" marB="34300" marR="68600" marL="68600"/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69"/>
          <p:cNvSpPr txBox="1"/>
          <p:nvPr>
            <p:ph type="title"/>
          </p:nvPr>
        </p:nvSpPr>
        <p:spPr>
          <a:xfrm>
            <a:off x="628650" y="152123"/>
            <a:ext cx="7886700" cy="69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 sz="2400"/>
              <a:t>Log Snapshot (Cumulative)</a:t>
            </a:r>
            <a:endParaRPr sz="2400"/>
          </a:p>
        </p:txBody>
      </p:sp>
      <p:graphicFrame>
        <p:nvGraphicFramePr>
          <p:cNvPr id="396" name="Google Shape;396;p69"/>
          <p:cNvGraphicFramePr/>
          <p:nvPr/>
        </p:nvGraphicFramePr>
        <p:xfrm>
          <a:off x="1071015" y="84843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{7EEF7216-85A2-4925-B9AA-697F3AFA3D84}</a:tableStyleId>
              </a:tblPr>
              <a:tblGrid>
                <a:gridCol w="1531600"/>
                <a:gridCol w="1531600"/>
                <a:gridCol w="1531600"/>
                <a:gridCol w="1531600"/>
              </a:tblGrid>
              <a:tr h="6021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 sz="1400" u="none" cap="none" strike="noStrike"/>
                        <a:t>Date</a:t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Progress  Summary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Next Steps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Notes</a:t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</a:tr>
              <a:tr h="823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/>
                        <a:t>Nov. 11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/>
                        <a:t>Pivoted to MJX for more compute-intense training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>
                          <a:latin typeface="Arial"/>
                          <a:ea typeface="Arial"/>
                          <a:cs typeface="Arial"/>
                          <a:sym typeface="Arial"/>
                        </a:rPr>
                        <a:t>Fix 2 agent, prepare for testing on hardware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0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 lnSpcReduction="20000"/>
          </a:bodyPr>
          <a:lstStyle/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lt1"/>
                </a:solidFill>
              </a:rPr>
              <a:t>Week 10-12</a:t>
            </a:r>
            <a:endParaRPr sz="4200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42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lt1"/>
                </a:solidFill>
              </a:rPr>
              <a:t>Successful 2-drone XYZ hover using MuJoCo Playground + Jax for MAPPO GPU training</a:t>
            </a:r>
            <a:endParaRPr sz="42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71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rPr lang="en"/>
              <a:t>MIRL LAB Honours Project Bi-Weekly Update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t/>
            </a:r>
            <a:endParaRPr/>
          </a:p>
        </p:txBody>
      </p:sp>
      <p:sp>
        <p:nvSpPr>
          <p:cNvPr id="407" name="Google Shape;407;p71"/>
          <p:cNvSpPr txBox="1"/>
          <p:nvPr>
            <p:ph idx="1" type="subTitle"/>
          </p:nvPr>
        </p:nvSpPr>
        <p:spPr>
          <a:xfrm>
            <a:off x="961950" y="2701524"/>
            <a:ext cx="72201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MARL Crazyflie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Michael O’Sullivan, Aydin Yalcinkaya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Using MARL to learn safe take-off and hover policies for Crazyflie drones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CrazyFlie, MuJuCo, Gymnasium, PyTorch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t/>
            </a:r>
            <a:endParaRPr sz="110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2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Progress Recap</a:t>
            </a:r>
            <a:endParaRPr/>
          </a:p>
        </p:txBody>
      </p:sp>
      <p:sp>
        <p:nvSpPr>
          <p:cNvPr id="413" name="Google Shape;413;p72"/>
          <p:cNvSpPr txBox="1"/>
          <p:nvPr>
            <p:ph idx="1" type="body"/>
          </p:nvPr>
        </p:nvSpPr>
        <p:spPr>
          <a:xfrm>
            <a:off x="417400" y="1369225"/>
            <a:ext cx="8267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lnSpcReduction="10000"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Goal</a:t>
            </a:r>
            <a:r>
              <a:rPr lang="en" sz="1800"/>
              <a:t>: Implementing MARL on Crazyflie drones for safe hovering and navigation</a:t>
            </a:r>
            <a:endParaRPr sz="18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/>
              <a:t>Progress</a:t>
            </a:r>
            <a:endParaRPr sz="1800"/>
          </a:p>
          <a:p>
            <a:pPr indent="-349250" lvl="0" marL="4572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900"/>
              <a:buAutoNum type="arabicPeriod"/>
            </a:pPr>
            <a:r>
              <a:rPr lang="en" sz="1900"/>
              <a:t>Gym + MuJoCo → Very successful single XYZ, not so much with multi</a:t>
            </a:r>
            <a:endParaRPr sz="1900"/>
          </a:p>
          <a:p>
            <a:pPr indent="-3492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Long training times, looking back the env needed adjustment too</a:t>
            </a:r>
            <a:endParaRPr sz="1900"/>
          </a:p>
          <a:p>
            <a:pPr indent="-3492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AutoNum type="arabicPeriod"/>
            </a:pPr>
            <a:r>
              <a:rPr lang="en" sz="1900"/>
              <a:t>Google notebook for Jax training using MuJoCo playground</a:t>
            </a:r>
            <a:endParaRPr sz="1900"/>
          </a:p>
          <a:p>
            <a:pPr indent="-3492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Single agent training with Brax PPO (baseline test)</a:t>
            </a:r>
            <a:endParaRPr sz="1900"/>
          </a:p>
          <a:p>
            <a:pPr indent="-3492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Multi-agent training (2 drones) with custom Jax MAPPO training</a:t>
            </a:r>
            <a:endParaRPr sz="1900"/>
          </a:p>
          <a:p>
            <a:pPr indent="-3492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→ Very stable and consistently successful results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b="1" sz="180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73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Progress Since Last Meeting </a:t>
            </a:r>
            <a:endParaRPr/>
          </a:p>
        </p:txBody>
      </p:sp>
      <p:sp>
        <p:nvSpPr>
          <p:cNvPr id="419" name="Google Shape;419;p73"/>
          <p:cNvSpPr txBox="1"/>
          <p:nvPr>
            <p:ph idx="1" type="body"/>
          </p:nvPr>
        </p:nvSpPr>
        <p:spPr>
          <a:xfrm>
            <a:off x="396150" y="1268050"/>
            <a:ext cx="8328900" cy="36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800"/>
              <a:t>Created custom MAPPO training in Google Collab notebook using Jax</a:t>
            </a:r>
            <a:endParaRPr sz="1800"/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JIT compilation, PRNG key (seed), Jax utilities e.g. jax.lax.scan…</a:t>
            </a:r>
            <a:endParaRPr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JIT training step (update) → Run training in Python for loop</a:t>
            </a:r>
            <a:endParaRPr/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800"/>
              <a:t>Agents see self-observations + relative pos of other drones</a:t>
            </a:r>
            <a:endParaRPr sz="1800"/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Training: Random target &amp; random drone state (pos/vel…) near target</a:t>
            </a:r>
            <a:endParaRPr/>
          </a:p>
          <a:p>
            <a:pPr indent="-3302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</a:pPr>
            <a:r>
              <a:rPr lang="en" sz="1700"/>
              <a:t>2048 env, 128-step rollout, 1000 updates → ~250mil steps in ~50min</a:t>
            </a:r>
            <a:endParaRPr sz="17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 sz="1800"/>
              <a:t>Results → Successful model (stored as Flax training state w/ NN params)</a:t>
            </a:r>
            <a:endParaRPr sz="1800"/>
          </a:p>
          <a:p>
            <a:pPr indent="-3111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</a:pPr>
            <a:r>
              <a:rPr lang="en" sz="1700"/>
              <a:t>Tested ~20 targets on varying </a:t>
            </a:r>
            <a:r>
              <a:rPr lang="en" sz="1700"/>
              <a:t>XYZ (+/- ~7m) → No crashes or collisions</a:t>
            </a:r>
            <a:endParaRPr sz="1700"/>
          </a:p>
          <a:p>
            <a:pPr indent="-3365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■"/>
            </a:pPr>
            <a:r>
              <a:rPr lang="en" sz="1700"/>
              <a:t>Drones seem to maintain a relatively fixed distance to one another when at target (e.g. one at target, other nearby, or both slightly offset)</a:t>
            </a:r>
            <a:endParaRPr sz="1700"/>
          </a:p>
          <a:p>
            <a:pPr indent="-33655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Remain this way until the end of the </a:t>
            </a:r>
            <a:r>
              <a:rPr lang="en" sz="1700"/>
              <a:t>episode</a:t>
            </a:r>
            <a:r>
              <a:rPr lang="en" sz="1700"/>
              <a:t> (step limit)</a:t>
            </a:r>
            <a:endParaRPr sz="170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4" name="Google Shape;424;p74" title="trai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27638" y="0"/>
            <a:ext cx="6488723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9" name="Google Shape;429;p75" title="gif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42999" y="0"/>
            <a:ext cx="6857991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76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Plan for the Next Two Weeks</a:t>
            </a:r>
            <a:endParaRPr/>
          </a:p>
        </p:txBody>
      </p:sp>
      <p:sp>
        <p:nvSpPr>
          <p:cNvPr id="435" name="Google Shape;435;p76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"/>
              <a:t>Goals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Domain randomization (I believe Playground has built-in support)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Prepare to and test on actual drones (prepare cf2 API for flax model)</a:t>
            </a:r>
            <a:endParaRPr/>
          </a:p>
          <a:p>
            <a:pPr indent="-171450" lvl="2" marL="863600" rtl="0" algn="l">
              <a:spcBef>
                <a:spcPts val="800"/>
              </a:spcBef>
              <a:spcAft>
                <a:spcPts val="0"/>
              </a:spcAft>
              <a:buSzPts val="1300"/>
              <a:buChar char="■"/>
            </a:pPr>
            <a:r>
              <a:rPr lang="en" sz="1700"/>
              <a:t>S</a:t>
            </a:r>
            <a:r>
              <a:rPr lang="en" sz="1700"/>
              <a:t>afety constraints + landing post-episode / time-limit</a:t>
            </a:r>
            <a:endParaRPr sz="1700"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Begin work on final presentation + report</a:t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"/>
              <a:t>Dependencies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Access to physical drones</a:t>
            </a:r>
            <a:endParaRPr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9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77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Roadmap Checkpoint</a:t>
            </a:r>
            <a:endParaRPr/>
          </a:p>
        </p:txBody>
      </p:sp>
      <p:sp>
        <p:nvSpPr>
          <p:cNvPr id="441" name="Google Shape;441;p77"/>
          <p:cNvSpPr txBox="1"/>
          <p:nvPr>
            <p:ph idx="1" type="body"/>
          </p:nvPr>
        </p:nvSpPr>
        <p:spPr>
          <a:xfrm>
            <a:off x="628650" y="1369226"/>
            <a:ext cx="7886700" cy="35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2: Imperfect single agent hovering at target on Z axis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4: Successful [0, 0, Z] hover, imperfect [0, Y, Z] hover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6: Successful XYZ hover within small ranges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8: Successful XYZ hover within most ranges, baseline MARL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10: Successful single XYZ hover using MJX, MARL not there yet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12: Successful 2-drone XYZ hover using MJX + Jax MAPPO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14: __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Final deadline: Deliverables (e.g., report, demo, paper draft)</a:t>
            </a:r>
            <a:endParaRPr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Early-Mid December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Shifts in schedule</a:t>
            </a:r>
            <a:endParaRPr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On track (hopefully get real drone testing in)</a:t>
            </a:r>
            <a:endParaRPr sz="180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78"/>
          <p:cNvSpPr txBox="1"/>
          <p:nvPr>
            <p:ph type="title"/>
          </p:nvPr>
        </p:nvSpPr>
        <p:spPr>
          <a:xfrm>
            <a:off x="628650" y="152123"/>
            <a:ext cx="7886700" cy="69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 sz="2400"/>
              <a:t>Log Snapshot (Cumulative)</a:t>
            </a:r>
            <a:endParaRPr sz="2400"/>
          </a:p>
        </p:txBody>
      </p:sp>
      <p:graphicFrame>
        <p:nvGraphicFramePr>
          <p:cNvPr id="447" name="Google Shape;447;p78"/>
          <p:cNvGraphicFramePr/>
          <p:nvPr/>
        </p:nvGraphicFramePr>
        <p:xfrm>
          <a:off x="1071015" y="84843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{7EEF7216-85A2-4925-B9AA-697F3AFA3D84}</a:tableStyleId>
              </a:tblPr>
              <a:tblGrid>
                <a:gridCol w="1531600"/>
                <a:gridCol w="1531600"/>
                <a:gridCol w="1531600"/>
                <a:gridCol w="1531600"/>
              </a:tblGrid>
              <a:tr h="6021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 sz="1400" u="none" cap="none" strike="noStrike"/>
                        <a:t>Date</a:t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Progress  Summary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Next Steps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Notes</a:t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</a:tr>
              <a:tr h="823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Sept. 1</a:t>
                      </a:r>
                      <a:r>
                        <a:rPr lang="en"/>
                        <a:t>6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Set up MuJoCo sim; baseline PPO-Clip training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>
                          <a:latin typeface="Arial"/>
                          <a:ea typeface="Arial"/>
                          <a:cs typeface="Arial"/>
                          <a:sym typeface="Arial"/>
                        </a:rPr>
                        <a:t>Refine current setup, explore MAPPO theory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>
                          <a:latin typeface="Arial"/>
                          <a:ea typeface="Arial"/>
                          <a:cs typeface="Arial"/>
                          <a:sym typeface="Arial"/>
                        </a:rPr>
                        <a:t>Policy / env is current imperfect / inconsistent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</a:tr>
              <a:tr h="8112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cap="none" strike="noStrike"/>
                        <a:t>Sept. 30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/>
                        <a:t>Successful Z hover.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/>
                        <a:t>Semi-successful YZ hover</a:t>
                      </a:r>
                      <a:endParaRPr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/>
                        <a:t>Refine YZ hover and move to XYZ, explore MAPPO theory</a:t>
                      </a:r>
                      <a:endParaRPr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/>
                </a:tc>
              </a:tr>
              <a:tr h="342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Oct. 14</a:t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Small XYZ hover</a:t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Full XYZ hover and MAPPO implementation</a:t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/>
                    </a:p>
                  </a:txBody>
                  <a:tcPr marT="34300" marB="34300" marR="68600" marL="68600"/>
                </a:tc>
              </a:tr>
              <a:tr h="342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Oct 28</a:t>
                      </a:r>
                      <a:endParaRPr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Single + Multi XYZ hover</a:t>
                      </a:r>
                      <a:endParaRPr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Better multi-XYZ hover, testing on actual drones</a:t>
                      </a:r>
                      <a:endParaRPr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/>
                    </a:p>
                  </a:txBody>
                  <a:tcPr marT="34300" marB="34300" marR="68600" marL="68600"/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79"/>
          <p:cNvSpPr txBox="1"/>
          <p:nvPr>
            <p:ph type="title"/>
          </p:nvPr>
        </p:nvSpPr>
        <p:spPr>
          <a:xfrm>
            <a:off x="628650" y="152123"/>
            <a:ext cx="7886700" cy="69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 sz="2400"/>
              <a:t>Log Snapshot (Cumulative)</a:t>
            </a:r>
            <a:endParaRPr sz="2400"/>
          </a:p>
        </p:txBody>
      </p:sp>
      <p:graphicFrame>
        <p:nvGraphicFramePr>
          <p:cNvPr id="453" name="Google Shape;453;p79"/>
          <p:cNvGraphicFramePr/>
          <p:nvPr/>
        </p:nvGraphicFramePr>
        <p:xfrm>
          <a:off x="1071015" y="84843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{7EEF7216-85A2-4925-B9AA-697F3AFA3D84}</a:tableStyleId>
              </a:tblPr>
              <a:tblGrid>
                <a:gridCol w="1531600"/>
                <a:gridCol w="1531600"/>
                <a:gridCol w="1531600"/>
                <a:gridCol w="1531600"/>
              </a:tblGrid>
              <a:tr h="6021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 sz="1400" u="none" cap="none" strike="noStrike"/>
                        <a:t>Date</a:t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Progress  Summary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Next Steps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Notes</a:t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</a:tr>
              <a:tr h="823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/>
                        <a:t>Nov. 11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/>
                        <a:t>Pivoted to MJX for more compute-intense training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>
                          <a:latin typeface="Arial"/>
                          <a:ea typeface="Arial"/>
                          <a:cs typeface="Arial"/>
                          <a:sym typeface="Arial"/>
                        </a:rPr>
                        <a:t>Fix 2 agent, prepare for testing on hardware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</a:tr>
              <a:tr h="823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Nov 25</a:t>
                      </a:r>
                      <a:endParaRPr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Successfully</a:t>
                      </a:r>
                      <a:r>
                        <a:rPr lang="en"/>
                        <a:t> 2-drone MJX + Jax training</a:t>
                      </a:r>
                      <a:endParaRPr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Arial"/>
                          <a:ea typeface="Arial"/>
                          <a:cs typeface="Arial"/>
                          <a:sym typeface="Arial"/>
                        </a:rPr>
                        <a:t>Prepare to test and test on real drones</a:t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</a:tr>
              <a:tr h="823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