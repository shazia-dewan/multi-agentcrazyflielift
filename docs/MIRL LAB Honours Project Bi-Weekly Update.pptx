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5"/>
    <p:sldMasterId id="214748367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y="5143500" cx="9144000"/>
  <p:notesSz cx="6858000" cy="9144000"/>
  <p:embeddedFontLst>
    <p:embeddedFont>
      <p:font typeface="Play"/>
      <p:regular r:id="rId33"/>
      <p:bold r:id="rId3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B8563D4-BB8A-4F7E-A35C-4C2900C004D8}">
  <a:tblStyle styleId="{1B8563D4-BB8A-4F7E-A35C-4C2900C004D8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7E9EC"/>
          </a:solidFill>
        </a:fill>
      </a:tcStyle>
    </a:wholeTbl>
    <a:band1H>
      <a:tcTxStyle/>
      <a:tcStyle>
        <a:fill>
          <a:solidFill>
            <a:srgbClr val="CAD1D8"/>
          </a:solidFill>
        </a:fill>
      </a:tcStyle>
    </a:band1H>
    <a:band2H>
      <a:tcTxStyle/>
    </a:band2H>
    <a:band1V>
      <a:tcTxStyle/>
      <a:tcStyle>
        <a:fill>
          <a:solidFill>
            <a:srgbClr val="CAD1D8"/>
          </a:solidFill>
        </a:fill>
      </a:tcStyle>
    </a:band1V>
    <a:band2V>
      <a:tcTxStyle/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font" Target="fonts/Play-regular.fntdata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34" Type="http://schemas.openxmlformats.org/officeDocument/2006/relationships/font" Target="fonts/Play-bold.fntdata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8ce41eaecb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8ce41eaecb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7f6ec32fba_2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g37f6ec32fba_2_7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7f6ec32fba_2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g37f6ec32fba_2_8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7f6ec32fba_2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g37f6ec32fba_2_8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7f6ec32fb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7f6ec32fb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7f6ec32fba_2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g37f6ec32fba_2_9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7f6ec32fba_2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g37f6ec32fba_2_9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7f6ec32fba_2_1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g37f6ec32fba_2_10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7f6ec32fba_2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g37f6ec32fba_2_10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8ce41eaec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8ce41eaec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875422c98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g3875422c980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875422c98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g3875422c980_0_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875422c980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g3875422c980_0_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875422c980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g3875422c980_0_2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875422c980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g3875422c980_0_3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875422c980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g3875422c980_0_3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875422c980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g3875422c980_0_4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8c8274f9e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8c8274f9e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8c8274f9e2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g38c8274f9e2_0_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8c8274f9e2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g38c8274f9e2_0_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8c8274f9e2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g38c8274f9e2_0_1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8c8274f9e2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g38c8274f9e2_0_1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8c8274f9e2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g38c8274f9e2_0_2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8c8274f9e2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g38c8274f9e2_0_2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8c8274f9e2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g38c8274f9e2_0_3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" type="subTitle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59" name="Google Shape;59;p14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" type="body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400"/>
              <a:buNone/>
              <a:defRPr sz="14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71" name="Google Shape;71;p1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Google Shape;72;p16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Google Shape;73;p16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" type="body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2" type="body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8" name="Google Shape;78;p1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" type="body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4" name="Google Shape;84;p18"/>
          <p:cNvSpPr txBox="1"/>
          <p:nvPr>
            <p:ph idx="2" type="body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body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6" name="Google Shape;86;p18"/>
          <p:cNvSpPr txBox="1"/>
          <p:nvPr>
            <p:ph idx="4" type="body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8" name="Google Shape;88;p1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9" name="Google Shape;89;p1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4" name="Google Shape;94;p1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b="0" i="0" sz="33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2.png"/><Relationship Id="rId6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www.nature.com/articles/s41586-023-06419-4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lt1"/>
                </a:solidFill>
              </a:rPr>
              <a:t>Week 1-2</a:t>
            </a:r>
            <a:endParaRPr sz="42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42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lt1"/>
                </a:solidFill>
              </a:rPr>
              <a:t>Initial Setup</a:t>
            </a:r>
            <a:endParaRPr sz="42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6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rPr lang="en"/>
              <a:t>MIRL LAB Honours Project Bi-Weekly Update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t/>
            </a:r>
            <a:endParaRPr/>
          </a:p>
        </p:txBody>
      </p:sp>
      <p:sp>
        <p:nvSpPr>
          <p:cNvPr id="135" name="Google Shape;135;p26"/>
          <p:cNvSpPr txBox="1"/>
          <p:nvPr>
            <p:ph idx="1" type="subTitle"/>
          </p:nvPr>
        </p:nvSpPr>
        <p:spPr>
          <a:xfrm>
            <a:off x="961950" y="2701524"/>
            <a:ext cx="72201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MARL Crazyflie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Michael O’Sullivan, Aydin Yalcinkaya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Using MARL to learn safe take-off and hover policies for Crazyflie drones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CrazyFlie, MuJuCo, Gymnasium, PyTorch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7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Progress Recap</a:t>
            </a:r>
            <a:endParaRPr/>
          </a:p>
        </p:txBody>
      </p:sp>
      <p:sp>
        <p:nvSpPr>
          <p:cNvPr id="141" name="Google Shape;141;p27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381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t/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"/>
              <a:t>Goal: Implementing MARL algorithms for safe hovering and navigation on Crazyflie drones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"/>
              <a:t>Progress</a:t>
            </a:r>
            <a:endParaRPr/>
          </a:p>
          <a:p>
            <a:pPr indent="-22225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○"/>
            </a:pPr>
            <a:r>
              <a:rPr lang="en"/>
              <a:t>Base environment for training a single drone to hover at a target</a:t>
            </a:r>
            <a:endParaRPr/>
          </a:p>
          <a:p>
            <a:pPr indent="-22225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○"/>
            </a:pPr>
            <a:r>
              <a:rPr lang="en"/>
              <a:t>Single agent PPO-Clip </a:t>
            </a:r>
            <a:r>
              <a:rPr lang="en"/>
              <a:t>applied to the target hover environment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8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Progress Since Last Meeting </a:t>
            </a:r>
            <a:endParaRPr/>
          </a:p>
        </p:txBody>
      </p:sp>
      <p:sp>
        <p:nvSpPr>
          <p:cNvPr id="147" name="Google Shape;147;p28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lnSpcReduction="10000"/>
          </a:bodyPr>
          <a:lstStyle/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Gymnasium environment set up for a basic hover task</a:t>
            </a:r>
            <a:endParaRPr/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MuJoCo simulation that renders the drone and target</a:t>
            </a:r>
            <a:endParaRPr/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PPO-Clip </a:t>
            </a:r>
            <a:r>
              <a:rPr lang="en"/>
              <a:t>applied to a single drone for the hover task</a:t>
            </a:r>
            <a:endParaRPr/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Results</a:t>
            </a:r>
            <a:endParaRPr/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Semi-successful policy resulting in imperfect hover behaviour</a:t>
            </a:r>
            <a:endParaRPr/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Challenges</a:t>
            </a:r>
            <a:endParaRPr/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Tuning the environment and/or policy to optimize reward</a:t>
            </a:r>
            <a:endParaRPr/>
          </a:p>
          <a:p>
            <a: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→ Minimize oscillation about the target</a:t>
            </a:r>
            <a:endParaRPr/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Inconsistent convergence on behaviour</a:t>
            </a:r>
            <a:endParaRPr/>
          </a:p>
          <a:p>
            <a: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E.g. sometimes learns to oscillate target, stay on ground, or fly high up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29" title="drone-1.png"/>
          <p:cNvPicPr preferRelativeResize="0"/>
          <p:nvPr/>
        </p:nvPicPr>
        <p:blipFill rotWithShape="1">
          <a:blip r:embed="rId3">
            <a:alphaModFix/>
          </a:blip>
          <a:srcRect b="0" l="27811" r="27561" t="0"/>
          <a:stretch/>
        </p:blipFill>
        <p:spPr>
          <a:xfrm>
            <a:off x="0" y="-30125"/>
            <a:ext cx="2252824" cy="3304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29" title="drone-2.png"/>
          <p:cNvPicPr preferRelativeResize="0"/>
          <p:nvPr/>
        </p:nvPicPr>
        <p:blipFill rotWithShape="1">
          <a:blip r:embed="rId4">
            <a:alphaModFix/>
          </a:blip>
          <a:srcRect b="0" l="28342" r="27722" t="0"/>
          <a:stretch/>
        </p:blipFill>
        <p:spPr>
          <a:xfrm>
            <a:off x="2307675" y="-31425"/>
            <a:ext cx="2252824" cy="3304401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29"/>
          <p:cNvSpPr txBox="1"/>
          <p:nvPr/>
        </p:nvSpPr>
        <p:spPr>
          <a:xfrm>
            <a:off x="390750" y="4106625"/>
            <a:ext cx="8362500" cy="88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1"/>
                </a:solidFill>
              </a:rPr>
              <a:t>Current Goal: Hovering towards a target at [0, 0, 1] (thrust only)</a:t>
            </a:r>
            <a:endParaRPr sz="21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1"/>
                </a:solidFill>
              </a:rPr>
              <a:t>Result: Oscillation about target (or gets stuck on ground / flies high)</a:t>
            </a:r>
            <a:endParaRPr sz="2100">
              <a:solidFill>
                <a:schemeClr val="dk1"/>
              </a:solidFill>
            </a:endParaRPr>
          </a:p>
        </p:txBody>
      </p:sp>
      <p:pic>
        <p:nvPicPr>
          <p:cNvPr id="155" name="Google Shape;155;p29" title="drone-fail-1.png"/>
          <p:cNvPicPr preferRelativeResize="0"/>
          <p:nvPr/>
        </p:nvPicPr>
        <p:blipFill rotWithShape="1">
          <a:blip r:embed="rId5">
            <a:alphaModFix/>
          </a:blip>
          <a:srcRect b="0" l="29186" r="28817" t="0"/>
          <a:stretch/>
        </p:blipFill>
        <p:spPr>
          <a:xfrm>
            <a:off x="4642775" y="-31425"/>
            <a:ext cx="2166124" cy="33044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29" title="Screenshot 2025-09-15 at 3.18.04 PM.png"/>
          <p:cNvPicPr preferRelativeResize="0"/>
          <p:nvPr/>
        </p:nvPicPr>
        <p:blipFill rotWithShape="1">
          <a:blip r:embed="rId6">
            <a:alphaModFix/>
          </a:blip>
          <a:srcRect b="0" l="27498" r="28694" t="0"/>
          <a:stretch/>
        </p:blipFill>
        <p:spPr>
          <a:xfrm>
            <a:off x="6891175" y="-52200"/>
            <a:ext cx="2252826" cy="3326474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9"/>
          <p:cNvSpPr txBox="1"/>
          <p:nvPr/>
        </p:nvSpPr>
        <p:spPr>
          <a:xfrm>
            <a:off x="516250" y="3433375"/>
            <a:ext cx="1252200" cy="3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1"/>
                </a:solidFill>
              </a:rPr>
              <a:t>T = 1</a:t>
            </a:r>
            <a:endParaRPr sz="2100">
              <a:solidFill>
                <a:schemeClr val="dk1"/>
              </a:solidFill>
            </a:endParaRPr>
          </a:p>
        </p:txBody>
      </p:sp>
      <p:sp>
        <p:nvSpPr>
          <p:cNvPr id="158" name="Google Shape;158;p29"/>
          <p:cNvSpPr txBox="1"/>
          <p:nvPr/>
        </p:nvSpPr>
        <p:spPr>
          <a:xfrm>
            <a:off x="2808000" y="3433375"/>
            <a:ext cx="1252200" cy="3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1"/>
                </a:solidFill>
              </a:rPr>
              <a:t>T = 2</a:t>
            </a:r>
            <a:endParaRPr sz="2100">
              <a:solidFill>
                <a:schemeClr val="dk1"/>
              </a:solidFill>
            </a:endParaRPr>
          </a:p>
        </p:txBody>
      </p:sp>
      <p:sp>
        <p:nvSpPr>
          <p:cNvPr id="159" name="Google Shape;159;p29"/>
          <p:cNvSpPr txBox="1"/>
          <p:nvPr/>
        </p:nvSpPr>
        <p:spPr>
          <a:xfrm>
            <a:off x="5099738" y="3433363"/>
            <a:ext cx="1252200" cy="3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1"/>
                </a:solidFill>
              </a:rPr>
              <a:t>T = 3</a:t>
            </a:r>
            <a:endParaRPr sz="2100">
              <a:solidFill>
                <a:schemeClr val="dk1"/>
              </a:solidFill>
            </a:endParaRPr>
          </a:p>
        </p:txBody>
      </p:sp>
      <p:sp>
        <p:nvSpPr>
          <p:cNvPr id="160" name="Google Shape;160;p29"/>
          <p:cNvSpPr txBox="1"/>
          <p:nvPr/>
        </p:nvSpPr>
        <p:spPr>
          <a:xfrm>
            <a:off x="7391488" y="3433363"/>
            <a:ext cx="1252200" cy="3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1"/>
                </a:solidFill>
              </a:rPr>
              <a:t>T = 4</a:t>
            </a:r>
            <a:endParaRPr sz="2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Plan for the Next Two Weeks</a:t>
            </a:r>
            <a:endParaRPr/>
          </a:p>
        </p:txBody>
      </p:sp>
      <p:sp>
        <p:nvSpPr>
          <p:cNvPr id="166" name="Google Shape;166;p30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"/>
              <a:t>Goals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Learn a single drone to hover at a target in any [X, Y, Z]</a:t>
            </a:r>
            <a:endParaRPr/>
          </a:p>
          <a:p>
            <a:pPr indent="-177800" lvl="2" marL="8636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Perhaps hover at target T, then return to starting position and land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Learn about MAPPO theory and implementation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"/>
              <a:t>Dependencies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Researching / </a:t>
            </a:r>
            <a:r>
              <a:rPr lang="en"/>
              <a:t>testing</a:t>
            </a:r>
            <a:r>
              <a:rPr lang="en"/>
              <a:t> the parameters and current setup</a:t>
            </a:r>
            <a:endParaRPr/>
          </a:p>
          <a:p>
            <a:pPr indent="-177800" lvl="2" marL="8636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Need consistent behaviour convergence</a:t>
            </a:r>
            <a:endParaRPr/>
          </a:p>
          <a:p>
            <a:pPr indent="-177800" lvl="2" marL="8636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Need reduced oscillation 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Roadmap Checkpoint</a:t>
            </a:r>
            <a:endParaRPr/>
          </a:p>
        </p:txBody>
      </p:sp>
      <p:sp>
        <p:nvSpPr>
          <p:cNvPr id="172" name="Google Shape;172;p31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381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t/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en"/>
              <a:t>Week 2: Imperfect single agent hovering at target on Z axis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en"/>
              <a:t>Week 4: Next milestone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en"/>
              <a:t>Final deadline: Deliverables (e.g., report, demo, paper draft)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en"/>
              <a:t>Note shifts in schedule here so I can track drift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2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Discussion Points / Questions </a:t>
            </a:r>
            <a:endParaRPr/>
          </a:p>
        </p:txBody>
      </p:sp>
      <p:sp>
        <p:nvSpPr>
          <p:cNvPr id="178" name="Google Shape;178;p32"/>
          <p:cNvSpPr txBox="1"/>
          <p:nvPr>
            <p:ph idx="1" type="body"/>
          </p:nvPr>
        </p:nvSpPr>
        <p:spPr>
          <a:xfrm>
            <a:off x="628650" y="1171425"/>
            <a:ext cx="7886700" cy="3648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158750" lvl="0" marL="177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●"/>
            </a:pPr>
            <a:r>
              <a:rPr lang="en" sz="1900"/>
              <a:t>General feedback on the current setup (</a:t>
            </a:r>
            <a:r>
              <a:rPr lang="en" sz="1900"/>
              <a:t>Main issue: Target Oscillation</a:t>
            </a:r>
            <a:r>
              <a:rPr lang="en" sz="1900"/>
              <a:t>)</a:t>
            </a:r>
            <a:endParaRPr sz="1900"/>
          </a:p>
          <a:p>
            <a:pPr indent="-177800" lvl="1" marL="520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Environment → Pure RL control (e.g. no thrust baseline)</a:t>
            </a:r>
            <a:endParaRPr/>
          </a:p>
          <a:p>
            <a:pPr indent="-17780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During training, drone initialized to random position on Z-axis [0, 0, Z]</a:t>
            </a:r>
            <a:endParaRPr/>
          </a:p>
          <a:p>
            <a:pPr indent="-17780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Reward based on distance improvement (reward += old distance - new distance)</a:t>
            </a:r>
            <a:endParaRPr/>
          </a:p>
          <a:p>
            <a:pPr indent="-17780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Episode termination based on N ~100 number of steps</a:t>
            </a:r>
            <a:endParaRPr/>
          </a:p>
          <a:p>
            <a:pPr indent="-177800" lvl="1" marL="520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PPO-Clip</a:t>
            </a:r>
            <a:endParaRPr/>
          </a:p>
          <a:p>
            <a:pPr indent="-17780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Update policy every n ~1k steps, over N ~100k total timesteps</a:t>
            </a:r>
            <a:endParaRPr/>
          </a:p>
          <a:p>
            <a:pPr indent="-17780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Anneal learning rate linearly (fine-tune the policy, encourage exploration at start)</a:t>
            </a:r>
            <a:endParaRPr/>
          </a:p>
          <a:p>
            <a:pPr indent="-17780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Minibatches, KL-Divergence check, and Entropy bonus </a:t>
            </a:r>
            <a:endParaRPr/>
          </a:p>
          <a:p>
            <a:pPr indent="-177800" lvl="1" marL="520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Plan</a:t>
            </a:r>
            <a:endParaRPr/>
          </a:p>
          <a:p>
            <a:pPr indent="-17780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Experiment with minor changes to the environment and/or policy</a:t>
            </a:r>
            <a:endParaRPr/>
          </a:p>
          <a:p>
            <a:pPr indent="-177800" lvl="3" marL="12065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I am working on a script to test different values across PPO / env parameters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3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Log Snapshot (Cumulative)</a:t>
            </a:r>
            <a:endParaRPr/>
          </a:p>
        </p:txBody>
      </p:sp>
      <p:graphicFrame>
        <p:nvGraphicFramePr>
          <p:cNvPr id="184" name="Google Shape;184;p33"/>
          <p:cNvGraphicFramePr/>
          <p:nvPr/>
        </p:nvGraphicFramePr>
        <p:xfrm>
          <a:off x="1084465" y="192723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{1B8563D4-BB8A-4F7E-A35C-4C2900C004D8}</a:tableStyleId>
              </a:tblPr>
              <a:tblGrid>
                <a:gridCol w="1531600"/>
                <a:gridCol w="1531600"/>
                <a:gridCol w="1531600"/>
                <a:gridCol w="1531600"/>
              </a:tblGrid>
              <a:tr h="2781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/>
                        <a:t>Date</a:t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Progress  Summary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Next Steps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Notes</a:t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</a:tr>
              <a:tr h="2781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Sept. 1</a:t>
                      </a:r>
                      <a:r>
                        <a:rPr lang="en"/>
                        <a:t>6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Set up MuJoCo sim; baseline PPO-Clip training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>
                          <a:latin typeface="Arial"/>
                          <a:ea typeface="Arial"/>
                          <a:cs typeface="Arial"/>
                          <a:sym typeface="Arial"/>
                        </a:rPr>
                        <a:t>Refine current setup, explore MAPPO theory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>
                          <a:latin typeface="Arial"/>
                          <a:ea typeface="Arial"/>
                          <a:cs typeface="Arial"/>
                          <a:sym typeface="Arial"/>
                        </a:rPr>
                        <a:t>Policy / env is current imperfect / inconsistent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</a:tr>
              <a:tr h="2781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cap="none" strike="noStrike"/>
                        <a:t>Sept. 30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/>
                </a:tc>
              </a:tr>
              <a:tr h="2781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4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lt1"/>
                </a:solidFill>
              </a:rPr>
              <a:t>Week 2-4</a:t>
            </a:r>
            <a:endParaRPr sz="42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42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lt1"/>
                </a:solidFill>
              </a:rPr>
              <a:t>Z and YZ Single-Agent Hover</a:t>
            </a:r>
            <a:endParaRPr sz="42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5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rPr lang="en"/>
              <a:t>MIRL LAB Honours Project Bi-Weekly Update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t/>
            </a:r>
            <a:endParaRPr/>
          </a:p>
        </p:txBody>
      </p:sp>
      <p:sp>
        <p:nvSpPr>
          <p:cNvPr id="195" name="Google Shape;195;p35"/>
          <p:cNvSpPr txBox="1"/>
          <p:nvPr>
            <p:ph idx="1" type="subTitle"/>
          </p:nvPr>
        </p:nvSpPr>
        <p:spPr>
          <a:xfrm>
            <a:off x="961950" y="2701524"/>
            <a:ext cx="72201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MARL Crazyflie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Michael O’Sullivan, Aydin Yalcinkaya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Using MARL to learn safe take-off and hover policies for Crazyflie drones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CrazyFlie, MuJuCo, Gymnasium, PyTorch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6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Progress Recap</a:t>
            </a:r>
            <a:endParaRPr/>
          </a:p>
        </p:txBody>
      </p:sp>
      <p:sp>
        <p:nvSpPr>
          <p:cNvPr id="201" name="Google Shape;201;p36"/>
          <p:cNvSpPr txBox="1"/>
          <p:nvPr>
            <p:ph idx="1" type="body"/>
          </p:nvPr>
        </p:nvSpPr>
        <p:spPr>
          <a:xfrm>
            <a:off x="417400" y="1369225"/>
            <a:ext cx="8267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Goal</a:t>
            </a:r>
            <a:r>
              <a:rPr lang="en" sz="1800"/>
              <a:t>: Implementing MARL on </a:t>
            </a:r>
            <a:r>
              <a:rPr lang="en" sz="1800"/>
              <a:t>Crazyflie drones for </a:t>
            </a:r>
            <a:r>
              <a:rPr lang="en" sz="1800"/>
              <a:t>safe hovering and navigation</a:t>
            </a:r>
            <a:endParaRPr sz="18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/>
              <a:t>Progress</a:t>
            </a:r>
            <a:endParaRPr sz="18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Base environment for training a single drone to hover at a target</a:t>
            </a:r>
            <a:endParaRPr sz="18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Vectorized single agent PPO-Clip that interacts with the environment</a:t>
            </a:r>
            <a:endParaRPr sz="1800"/>
          </a:p>
          <a:p>
            <a:pPr indent="-342900" lvl="1" marL="914400" rtl="0" algn="l">
              <a:spcBef>
                <a:spcPts val="40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Runs 1 or more environments in parallel for better sampling</a:t>
            </a:r>
            <a:endParaRPr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Engineered features to help the agent understand observation relationships</a:t>
            </a:r>
            <a:endParaRPr sz="18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7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Progress Since Last Meeting </a:t>
            </a:r>
            <a:endParaRPr/>
          </a:p>
        </p:txBody>
      </p:sp>
      <p:sp>
        <p:nvSpPr>
          <p:cNvPr id="207" name="Google Shape;207;p37"/>
          <p:cNvSpPr txBox="1"/>
          <p:nvPr>
            <p:ph idx="1" type="body"/>
          </p:nvPr>
        </p:nvSpPr>
        <p:spPr>
          <a:xfrm>
            <a:off x="511650" y="1268050"/>
            <a:ext cx="8119200" cy="36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Vectorized environments</a:t>
            </a:r>
            <a:r>
              <a:rPr lang="en" sz="1800"/>
              <a:t>: Agent can run multiple envs in parallel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Using SB3 VecEnv → Agent uses batched observations and actions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Hyperparameters and training schedule</a:t>
            </a:r>
            <a:r>
              <a:rPr lang="en" sz="1800"/>
              <a:t>: Adjusted based on testing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E.g. now running ~1500 step episodes for 150 000 total steps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Feature engineering</a:t>
            </a:r>
            <a:r>
              <a:rPr lang="en" sz="1800"/>
              <a:t>: Modifying base (pos/vel/rot) features to help the agent establish meaningful connections: ~100 features in obs space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E.g. relative position to target, (squared) distance to target, some are more complex, e.g. direction to target in the drones local coordinate system (body</a:t>
            </a:r>
            <a:r>
              <a:rPr lang="en"/>
              <a:t>→world rotation matrix @ direction vector</a:t>
            </a:r>
            <a:r>
              <a:rPr lang="en"/>
              <a:t>)</a:t>
            </a:r>
            <a:endParaRPr/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Tracking observation gradients during eval run to guide engineering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Results</a:t>
            </a:r>
            <a:r>
              <a:rPr lang="en" sz="1800"/>
              <a:t>: Better sampling, less variant and more successful behaviour</a:t>
            </a:r>
            <a:endParaRPr sz="18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8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Plan for the Next Two Weeks</a:t>
            </a:r>
            <a:endParaRPr/>
          </a:p>
        </p:txBody>
      </p:sp>
      <p:sp>
        <p:nvSpPr>
          <p:cNvPr id="213" name="Google Shape;213;p3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"/>
              <a:t>Goals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Learn a single drone to hover at a target in any [X, Y, Z]</a:t>
            </a:r>
            <a:endParaRPr/>
          </a:p>
          <a:p>
            <a:pPr indent="-177800" lvl="2" marL="8636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Perhaps hover at target T, then return to starting position and land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Learn about MAPPO theory and implementation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"/>
              <a:t>Dependencies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Currently, feature engineering has yielded the most improvement</a:t>
            </a:r>
            <a:endParaRPr/>
          </a:p>
          <a:p>
            <a:pPr indent="-177800" lvl="2" marL="8636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Experiment with other features, possibly adjust hyperparameters and training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9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Roadmap Checkpoint</a:t>
            </a:r>
            <a:endParaRPr/>
          </a:p>
        </p:txBody>
      </p:sp>
      <p:sp>
        <p:nvSpPr>
          <p:cNvPr id="219" name="Google Shape;219;p39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2: Imperfect single agent hovering at target on Z axis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4: Successful [0, 0, Z] hover, imperfect [0, Y, Z] hover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6: Next milestone</a:t>
            </a:r>
            <a:endParaRPr sz="1800"/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Final deadline: Deliverables (e.g., report, demo, paper draft)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Early December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Shifts in schedule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Had planned to get [X, Y, Z] hovering working this week, so slightly behind (although this was an </a:t>
            </a:r>
            <a:r>
              <a:rPr lang="en" sz="1800"/>
              <a:t>ambitious</a:t>
            </a:r>
            <a:r>
              <a:rPr lang="en" sz="1800"/>
              <a:t> goal)</a:t>
            </a:r>
            <a:endParaRPr sz="18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0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Discussion Points / Questions </a:t>
            </a:r>
            <a:endParaRPr/>
          </a:p>
        </p:txBody>
      </p:sp>
      <p:sp>
        <p:nvSpPr>
          <p:cNvPr id="225" name="Google Shape;225;p40"/>
          <p:cNvSpPr txBox="1"/>
          <p:nvPr>
            <p:ph idx="1" type="body"/>
          </p:nvPr>
        </p:nvSpPr>
        <p:spPr>
          <a:xfrm>
            <a:off x="628650" y="1171425"/>
            <a:ext cx="7886700" cy="3648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lnSpcReduction="10000"/>
          </a:bodyPr>
          <a:lstStyle/>
          <a:p>
            <a:pPr indent="-158750" lvl="0" marL="177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●"/>
            </a:pPr>
            <a:r>
              <a:rPr b="1" lang="en" sz="1900"/>
              <a:t>Feature engineering discussion</a:t>
            </a:r>
            <a:endParaRPr b="1" sz="1900"/>
          </a:p>
          <a:p>
            <a:pPr indent="-209550" lvl="1" marL="520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As I understand it, feature engineering will speed up the learning process and reduce training time</a:t>
            </a:r>
            <a:endParaRPr sz="1900"/>
          </a:p>
          <a:p>
            <a:pPr indent="-209550" lvl="1" marL="520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Comparable projects (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Champion-level drone racing using deep reinforcement learning</a:t>
            </a:r>
            <a:r>
              <a:rPr lang="en" sz="1900"/>
              <a:t>) use a more basic observation space</a:t>
            </a:r>
            <a:endParaRPr sz="1900"/>
          </a:p>
          <a:p>
            <a:pPr indent="-20955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</a:pPr>
            <a:r>
              <a:rPr lang="en" sz="1900"/>
              <a:t>Pos/Vel &amp; Rotation matrix (15) + Relative pos of next quadrant (12) + prev action (4) → Total 31</a:t>
            </a:r>
            <a:endParaRPr sz="1900"/>
          </a:p>
          <a:p>
            <a:pPr indent="-20955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</a:pPr>
            <a:r>
              <a:rPr lang="en" sz="1900"/>
              <a:t>More </a:t>
            </a:r>
            <a:r>
              <a:rPr lang="en" sz="1900"/>
              <a:t>rigorous</a:t>
            </a:r>
            <a:r>
              <a:rPr lang="en" sz="1900"/>
              <a:t> training: 100 parallel envs, 100 million steps</a:t>
            </a:r>
            <a:endParaRPr sz="1900"/>
          </a:p>
          <a:p>
            <a:pPr indent="-20955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</a:pPr>
            <a:r>
              <a:rPr lang="en" sz="1900"/>
              <a:t>Us: 24 envs, 3.6 million steps (24 envs, 150000 steps per)</a:t>
            </a:r>
            <a:endParaRPr sz="1900"/>
          </a:p>
          <a:p>
            <a:pPr indent="-209550" lvl="1" marL="520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Is our approach (~100 features) reasonable?</a:t>
            </a:r>
            <a:endParaRPr sz="1900"/>
          </a:p>
          <a:p>
            <a:pPr indent="-20955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</a:pPr>
            <a:r>
              <a:rPr lang="en" sz="1900"/>
              <a:t>Implications for running on actual drones (e.g. feature noise)?</a:t>
            </a:r>
            <a:endParaRPr sz="19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41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Log Snapshot (Cumulative)</a:t>
            </a:r>
            <a:endParaRPr/>
          </a:p>
        </p:txBody>
      </p:sp>
      <p:graphicFrame>
        <p:nvGraphicFramePr>
          <p:cNvPr id="231" name="Google Shape;231;p41"/>
          <p:cNvGraphicFramePr/>
          <p:nvPr/>
        </p:nvGraphicFramePr>
        <p:xfrm>
          <a:off x="1084465" y="1361761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{1B8563D4-BB8A-4F7E-A35C-4C2900C004D8}</a:tableStyleId>
              </a:tblPr>
              <a:tblGrid>
                <a:gridCol w="1531600"/>
                <a:gridCol w="1531600"/>
                <a:gridCol w="1531600"/>
                <a:gridCol w="1531600"/>
              </a:tblGrid>
              <a:tr h="6021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/>
                        <a:t>Date</a:t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Progress  Summary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Next Steps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Notes</a:t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</a:tr>
              <a:tr h="1120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Sept. 1</a:t>
                      </a:r>
                      <a:r>
                        <a:rPr lang="en"/>
                        <a:t>6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Set up MuJoCo sim; baseline PPO-Clip training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>
                          <a:latin typeface="Arial"/>
                          <a:ea typeface="Arial"/>
                          <a:cs typeface="Arial"/>
                          <a:sym typeface="Arial"/>
                        </a:rPr>
                        <a:t>Refine current setup, explore MAPPO theory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>
                          <a:latin typeface="Arial"/>
                          <a:ea typeface="Arial"/>
                          <a:cs typeface="Arial"/>
                          <a:sym typeface="Arial"/>
                        </a:rPr>
                        <a:t>Policy / env is current imperfect / inconsistent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</a:tr>
              <a:tr h="1120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cap="none" strike="noStrike"/>
                        <a:t>Sept. 30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Successful</a:t>
                      </a:r>
                      <a:r>
                        <a:rPr lang="en"/>
                        <a:t> Z hover.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Semi-successful YZ hover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Refine YZ hover and move to XYZ, explore MAPPO theory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/>
                </a:tc>
              </a:tr>
              <a:tr h="342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4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lt1"/>
                </a:solidFill>
              </a:rPr>
              <a:t>Week 4-6</a:t>
            </a:r>
            <a:endParaRPr sz="42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42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lt1"/>
                </a:solidFill>
              </a:rPr>
              <a:t>XYZ hover within small ranges for a single agent</a:t>
            </a:r>
            <a:endParaRPr sz="42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rPr lang="en"/>
              <a:t>MIRL LAB Honours Project Bi-Weekly Update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t/>
            </a:r>
            <a:endParaRPr/>
          </a:p>
        </p:txBody>
      </p:sp>
      <p:sp>
        <p:nvSpPr>
          <p:cNvPr id="242" name="Google Shape;242;p43"/>
          <p:cNvSpPr txBox="1"/>
          <p:nvPr>
            <p:ph idx="1" type="subTitle"/>
          </p:nvPr>
        </p:nvSpPr>
        <p:spPr>
          <a:xfrm>
            <a:off x="961950" y="2701524"/>
            <a:ext cx="72201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MARL Crazyflie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Michael O’Sullivan, Aydin Yalcinkaya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Using MARL to learn safe take-off and hover policies for Crazyflie drones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CrazyFlie, MuJuCo, Gymnasium, PyTorch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 sz="11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44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Progress Recap</a:t>
            </a:r>
            <a:endParaRPr/>
          </a:p>
        </p:txBody>
      </p:sp>
      <p:sp>
        <p:nvSpPr>
          <p:cNvPr id="248" name="Google Shape;248;p44"/>
          <p:cNvSpPr txBox="1"/>
          <p:nvPr>
            <p:ph idx="1" type="body"/>
          </p:nvPr>
        </p:nvSpPr>
        <p:spPr>
          <a:xfrm>
            <a:off x="417400" y="1369225"/>
            <a:ext cx="8267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Goal</a:t>
            </a:r>
            <a:r>
              <a:rPr lang="en" sz="1800"/>
              <a:t>: Implementing MARL on Crazyflie drones for safe hovering and navigation</a:t>
            </a:r>
            <a:endParaRPr sz="18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/>
              <a:t>Progress</a:t>
            </a:r>
            <a:endParaRPr sz="18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Base environment for training a single drone to hover at a target</a:t>
            </a:r>
            <a:endParaRPr sz="18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Vectorized single agent PPO-Clip that interacts with the environment</a:t>
            </a:r>
            <a:endParaRPr sz="1800"/>
          </a:p>
          <a:p>
            <a:pPr indent="-342900" lvl="1" marL="914400" rtl="0" algn="l">
              <a:spcBef>
                <a:spcPts val="40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Runs 1 or more environments in parallel for better sampling</a:t>
            </a:r>
            <a:endParaRPr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Engineered features to help the agent understand observation relationships</a:t>
            </a:r>
            <a:endParaRPr sz="18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Single agent XYZ hover within small ranges ~1m</a:t>
            </a:r>
            <a:endParaRPr sz="18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Progress Since Last Meeting </a:t>
            </a:r>
            <a:endParaRPr/>
          </a:p>
        </p:txBody>
      </p:sp>
      <p:sp>
        <p:nvSpPr>
          <p:cNvPr id="254" name="Google Shape;254;p45"/>
          <p:cNvSpPr txBox="1"/>
          <p:nvPr>
            <p:ph idx="1" type="body"/>
          </p:nvPr>
        </p:nvSpPr>
        <p:spPr>
          <a:xfrm>
            <a:off x="511650" y="1268050"/>
            <a:ext cx="8119200" cy="36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New reward system</a:t>
            </a:r>
            <a:endParaRPr b="1"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 = survival + w1 * distance_improvement + w2 * target_proximity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Taking 10 MuJoCo physics steps per 1 env step</a:t>
            </a:r>
            <a:endParaRPr b="1"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Previously, env / MuJoCo steps were one-to-one</a:t>
            </a:r>
            <a:endParaRPr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observation delay allows less reactive commands (roll/pitch/yaw) to have a more visible effect to the agent, and simulates actual control-observation delay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Curriculum of gradually increasing difficulty</a:t>
            </a:r>
            <a:endParaRPr b="1"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During training, gradually scale up the drone’s random initial position, rotation, and velocities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Results</a:t>
            </a:r>
            <a:r>
              <a:rPr lang="en" sz="1800"/>
              <a:t>: Successful XYZ hover within ~1m (crashes when further)</a:t>
            </a:r>
            <a:endParaRPr sz="18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6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Plan for the Next Two Weeks</a:t>
            </a:r>
            <a:endParaRPr/>
          </a:p>
        </p:txBody>
      </p:sp>
      <p:sp>
        <p:nvSpPr>
          <p:cNvPr id="260" name="Google Shape;260;p46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"/>
              <a:t>Goals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Extend XYZ hover to greater distances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Learn about MAPPO theory, begin implementation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"/>
              <a:t>Dependencies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Research dynamic XYZ hover strategies and MAPPO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7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Roadmap Checkpoint</a:t>
            </a:r>
            <a:endParaRPr/>
          </a:p>
        </p:txBody>
      </p:sp>
      <p:sp>
        <p:nvSpPr>
          <p:cNvPr id="266" name="Google Shape;266;p47"/>
          <p:cNvSpPr txBox="1"/>
          <p:nvPr>
            <p:ph idx="1" type="body"/>
          </p:nvPr>
        </p:nvSpPr>
        <p:spPr>
          <a:xfrm>
            <a:off x="628650" y="1369226"/>
            <a:ext cx="7886700" cy="35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2: Imperfect single agent hovering at target on Z axis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4: Successful [0, 0, Z] hover, imperfect [0, Y, Z] hover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6: Successful XYZ hover within small ranges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8: ___</a:t>
            </a:r>
            <a:endParaRPr sz="1800"/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Final deadline: Deliverables (e.g., report, demo, paper draft)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Early December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Shifts in schedule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Relatively on track, hoping to get better ranges for XYZ and a baseline MAPPO implementation by next meeting</a:t>
            </a:r>
            <a:endParaRPr sz="18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8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Discussion Points / Questions </a:t>
            </a:r>
            <a:endParaRPr/>
          </a:p>
        </p:txBody>
      </p:sp>
      <p:sp>
        <p:nvSpPr>
          <p:cNvPr id="272" name="Google Shape;272;p48"/>
          <p:cNvSpPr txBox="1"/>
          <p:nvPr>
            <p:ph idx="1" type="body"/>
          </p:nvPr>
        </p:nvSpPr>
        <p:spPr>
          <a:xfrm>
            <a:off x="628650" y="1171425"/>
            <a:ext cx="7886700" cy="3648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lnSpcReduction="20000"/>
          </a:bodyPr>
          <a:lstStyle/>
          <a:p>
            <a:pPr indent="-158750" lvl="0" marL="177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●"/>
            </a:pPr>
            <a:r>
              <a:rPr b="1" lang="en" sz="1900"/>
              <a:t>Extending to any range in XYZ?</a:t>
            </a:r>
            <a:endParaRPr b="1" sz="1900"/>
          </a:p>
          <a:p>
            <a:pPr indent="-209550" lvl="1" marL="520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Currently, the curriculum scales the initial starting position up to 0.5m (10 curriculum stages, start at 0.05m, +0.05m each stage)</a:t>
            </a:r>
            <a:endParaRPr sz="1900"/>
          </a:p>
          <a:p>
            <a:pPr indent="-20955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</a:pPr>
            <a:r>
              <a:rPr lang="en" sz="1900"/>
              <a:t>Extending the curriculum has helped, but this linearly scales the training time and does not generalize to any XYZ</a:t>
            </a:r>
            <a:endParaRPr sz="1900"/>
          </a:p>
          <a:p>
            <a:pPr indent="-20955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</a:pPr>
            <a:r>
              <a:rPr lang="en" sz="1900"/>
              <a:t>Currently, successful XYZ hover within ~1m takes ~15 minutes</a:t>
            </a:r>
            <a:endParaRPr sz="1900"/>
          </a:p>
          <a:p>
            <a:pPr indent="-209550" lvl="3" marL="12065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8 parallel environments, 600k steps per env, 4.6 million total</a:t>
            </a:r>
            <a:endParaRPr sz="1900"/>
          </a:p>
          <a:p>
            <a:pPr indent="-209550" lvl="1" marL="520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Strategies?</a:t>
            </a:r>
            <a:endParaRPr sz="1900"/>
          </a:p>
          <a:p>
            <a:pPr indent="-20955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</a:pPr>
            <a:r>
              <a:rPr lang="en" sz="1900"/>
              <a:t>Break up large </a:t>
            </a:r>
            <a:r>
              <a:rPr lang="en" sz="1900"/>
              <a:t>journeys</a:t>
            </a:r>
            <a:r>
              <a:rPr lang="en" sz="1900"/>
              <a:t> + pathfinding between checkpoints?</a:t>
            </a:r>
            <a:endParaRPr sz="1900"/>
          </a:p>
          <a:p>
            <a:pPr indent="-20955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</a:pPr>
            <a:r>
              <a:rPr lang="en" sz="1900"/>
              <a:t>Reshape rewards and/or observations for longer journeys?</a:t>
            </a:r>
            <a:endParaRPr sz="1900"/>
          </a:p>
          <a:p>
            <a:pPr indent="-209550" lvl="3" marL="12065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E.g. rewarding stable flight </a:t>
            </a:r>
            <a:r>
              <a:rPr lang="en" sz="1900"/>
              <a:t>throughout</a:t>
            </a:r>
            <a:r>
              <a:rPr lang="en" sz="1900"/>
              <a:t> entire journey might help drone navigate to far targets without crashing (?)</a:t>
            </a:r>
            <a:endParaRPr sz="19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49"/>
          <p:cNvSpPr txBox="1"/>
          <p:nvPr>
            <p:ph type="title"/>
          </p:nvPr>
        </p:nvSpPr>
        <p:spPr>
          <a:xfrm>
            <a:off x="628650" y="152119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Log Snapshot (Cumulative)</a:t>
            </a:r>
            <a:endParaRPr/>
          </a:p>
        </p:txBody>
      </p:sp>
      <p:graphicFrame>
        <p:nvGraphicFramePr>
          <p:cNvPr id="278" name="Google Shape;278;p49"/>
          <p:cNvGraphicFramePr/>
          <p:nvPr/>
        </p:nvGraphicFramePr>
        <p:xfrm>
          <a:off x="1071015" y="114633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{1B8563D4-BB8A-4F7E-A35C-4C2900C004D8}</a:tableStyleId>
              </a:tblPr>
              <a:tblGrid>
                <a:gridCol w="1531600"/>
                <a:gridCol w="1531600"/>
                <a:gridCol w="1531600"/>
                <a:gridCol w="1531600"/>
              </a:tblGrid>
              <a:tr h="6021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/>
                        <a:t>Date</a:t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Progress  Summary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Next Steps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Notes</a:t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</a:tr>
              <a:tr h="760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Sept. 1</a:t>
                      </a:r>
                      <a:r>
                        <a:rPr lang="en"/>
                        <a:t>6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Set up MuJoCo sim; baseline PPO-Clip training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>
                          <a:latin typeface="Arial"/>
                          <a:ea typeface="Arial"/>
                          <a:cs typeface="Arial"/>
                          <a:sym typeface="Arial"/>
                        </a:rPr>
                        <a:t>Refine current setup, explore MAPPO theory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>
                          <a:latin typeface="Arial"/>
                          <a:ea typeface="Arial"/>
                          <a:cs typeface="Arial"/>
                          <a:sym typeface="Arial"/>
                        </a:rPr>
                        <a:t>Policy / env is current imperfect / inconsistent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</a:tr>
              <a:tr h="8112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cap="none" strike="noStrike"/>
                        <a:t>Sept. 30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Successful Z hover.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Semi-successful YZ hover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Refine YZ hover and move to XYZ, explore MAPPO theory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/>
                </a:tc>
              </a:tr>
              <a:tr h="342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Oct. 14</a:t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Small XYZ hover</a:t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Full XYZ hover and MAPPO implementation</a:t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