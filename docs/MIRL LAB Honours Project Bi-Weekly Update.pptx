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B1B1F9-9234-4F01-9741-F30DABF958EB}">
  <a:tblStyle styleId="{DDB1B1F9-9234-4F01-9741-F30DABF958EB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ce41eaec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ce41eaec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f6ec32fba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7f6ec32fba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6ec32fba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7f6ec32fba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f6ec32fba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7f6ec32fba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f6ec32f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f6ec32f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6ec32fba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7f6ec32fba_2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f6ec32fba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7f6ec32fba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f6ec32fba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7f6ec32fba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f6ec32fba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7f6ec32fba_2_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ce41eae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ce41eae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75422c9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875422c98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75422c9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875422c98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75422c9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875422c98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75422c98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875422c980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75422c98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875422c980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75422c98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875422c980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75422c98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875422c980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nature.com/articles/s41586-023-06419-4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Week 1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Initial Setup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MIRL LAB Honours Project Bi-Weekly Update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961950" y="2701524"/>
            <a:ext cx="7220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MARL Crazyflie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Michael O’Sullivan, Aydin Yalcinkaya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Using MARL to learn safe take-off and hover policies for Crazyflie drones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CrazyFlie, MuJuCo, Gymnasium, PyTorch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Progress Recap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Goal: Implementing MARL algorithms for safe hovering and navigation on Crazyflie drones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Progress</a:t>
            </a:r>
            <a:endParaRPr/>
          </a:p>
          <a:p>
            <a:pPr indent="-22225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/>
              <a:t>Base environment for training a single drone to hover at a target</a:t>
            </a:r>
            <a:endParaRPr/>
          </a:p>
          <a:p>
            <a:pPr indent="-22225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/>
              <a:t>Single agent PPO-Clip </a:t>
            </a:r>
            <a:r>
              <a:rPr lang="en"/>
              <a:t>applied to the target hover environment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Progress Since Last Meeting 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Gymnasium environment set up for a basic hover task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MuJoCo simulation that renders the drone and target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PPO-Clip </a:t>
            </a:r>
            <a:r>
              <a:rPr lang="en"/>
              <a:t>applied to a single drone for the hover task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Semi-successful policy resulting in imperfect hover behaviour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Challenges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Tuning the environment and/or policy to optimize reward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→ Minimize oscillation about the target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Inconsistent convergence on behaviour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sometimes learns to oscillate target, stay on ground, or fly high 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 title="drone-1.png"/>
          <p:cNvPicPr preferRelativeResize="0"/>
          <p:nvPr/>
        </p:nvPicPr>
        <p:blipFill rotWithShape="1">
          <a:blip r:embed="rId3">
            <a:alphaModFix/>
          </a:blip>
          <a:srcRect b="0" l="27811" r="27561" t="0"/>
          <a:stretch/>
        </p:blipFill>
        <p:spPr>
          <a:xfrm>
            <a:off x="0" y="-30125"/>
            <a:ext cx="2252824" cy="330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9" title="drone-2.png"/>
          <p:cNvPicPr preferRelativeResize="0"/>
          <p:nvPr/>
        </p:nvPicPr>
        <p:blipFill rotWithShape="1">
          <a:blip r:embed="rId4">
            <a:alphaModFix/>
          </a:blip>
          <a:srcRect b="0" l="28342" r="27722" t="0"/>
          <a:stretch/>
        </p:blipFill>
        <p:spPr>
          <a:xfrm>
            <a:off x="2307675" y="-31425"/>
            <a:ext cx="2252824" cy="330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390750" y="4106625"/>
            <a:ext cx="83625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Current Goal: Hovering towards a target at [0, 0, 1] (thrust only)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Result: Oscillation about target (or gets stuck on ground / flies high)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55" name="Google Shape;155;p29" title="drone-fail-1.png"/>
          <p:cNvPicPr preferRelativeResize="0"/>
          <p:nvPr/>
        </p:nvPicPr>
        <p:blipFill rotWithShape="1">
          <a:blip r:embed="rId5">
            <a:alphaModFix/>
          </a:blip>
          <a:srcRect b="0" l="29186" r="28817" t="0"/>
          <a:stretch/>
        </p:blipFill>
        <p:spPr>
          <a:xfrm>
            <a:off x="4642775" y="-31425"/>
            <a:ext cx="2166124" cy="330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9" title="Screenshot 2025-09-15 at 3.18.04 PM.png"/>
          <p:cNvPicPr preferRelativeResize="0"/>
          <p:nvPr/>
        </p:nvPicPr>
        <p:blipFill rotWithShape="1">
          <a:blip r:embed="rId6">
            <a:alphaModFix/>
          </a:blip>
          <a:srcRect b="0" l="27498" r="28694" t="0"/>
          <a:stretch/>
        </p:blipFill>
        <p:spPr>
          <a:xfrm>
            <a:off x="6891175" y="-52200"/>
            <a:ext cx="2252826" cy="332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516250" y="3433375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1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2808000" y="3433375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2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5099738" y="3433363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3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7391488" y="3433363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4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Plan for the Next Two Weeks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Goals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a single drone to hover at a target in any [X, Y, Z]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Perhaps hover at target T, then return to starting position and land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about MAPPO theory and implementation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Dependencies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Researching / </a:t>
            </a:r>
            <a:r>
              <a:rPr lang="en"/>
              <a:t>testing</a:t>
            </a:r>
            <a:r>
              <a:rPr lang="en"/>
              <a:t> the parameters and current setup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consistent behaviour convergence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reduced oscillation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Roadmap Checkpoint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Week 2: Imperfect single agent hovering at target on Z axis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Week 4: Next milestone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Final deadline: Deliverables (e.g., report, demo, paper draft)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Note shifts in schedule here so I can track drift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Discussion Points / Questions 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628650" y="1171425"/>
            <a:ext cx="7886700" cy="3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87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/>
              <a:t>General feedback on the current setup (</a:t>
            </a:r>
            <a:r>
              <a:rPr lang="en" sz="1900"/>
              <a:t>Main issue: Target Oscillation</a:t>
            </a:r>
            <a:r>
              <a:rPr lang="en" sz="1900"/>
              <a:t>)</a:t>
            </a:r>
            <a:endParaRPr sz="1900"/>
          </a:p>
          <a:p>
            <a:pPr indent="-17780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Environment → Pure RL control (e.g. no thrust baseline)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During training, drone initialized to random position on Z-axis [0, 0, Z]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Reward based on distance improvement (reward += old distance - new distance)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Episode termination based on N ~100 number of steps</a:t>
            </a:r>
            <a:endParaRPr/>
          </a:p>
          <a:p>
            <a:pPr indent="-17780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PPO-Clip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Update policy every n ~1k steps, over N ~100k total timesteps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Anneal learning rate linearly (fine-tune the policy, encourage exploration at start)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Minibatches, KL-Divergence check, and Entropy bonus </a:t>
            </a:r>
            <a:endParaRPr/>
          </a:p>
          <a:p>
            <a:pPr indent="-17780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Plan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Experiment with minor changes to the environment and/or policy</a:t>
            </a:r>
            <a:endParaRPr/>
          </a:p>
          <a:p>
            <a:pPr indent="-177800" lvl="3" marL="1206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am working on a script to test different values across PPO / env parameters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Log Snapshot (Cumulative)</a:t>
            </a:r>
            <a:endParaRPr/>
          </a:p>
        </p:txBody>
      </p:sp>
      <p:graphicFrame>
        <p:nvGraphicFramePr>
          <p:cNvPr id="184" name="Google Shape;184;p33"/>
          <p:cNvGraphicFramePr/>
          <p:nvPr/>
        </p:nvGraphicFramePr>
        <p:xfrm>
          <a:off x="1084465" y="19272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{DDB1B1F9-9234-4F01-9741-F30DABF958EB}</a:tableStyleId>
              </a:tblPr>
              <a:tblGrid>
                <a:gridCol w="1531600"/>
                <a:gridCol w="1531600"/>
                <a:gridCol w="1531600"/>
                <a:gridCol w="15316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Progress  Summary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Steps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Sept. 1</a:t>
                      </a:r>
                      <a:r>
                        <a:rPr lang="en"/>
                        <a:t>6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Set up MuJoCo sim; baseline PPO-Clip training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Refine current setup, explore MAPPO theory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Policy / env is current imperfect / inconsistent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Sept. 30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Week 2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Single-Agent Hover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MIRL LAB Honours Project Bi-Weekly Update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95" name="Google Shape;195;p35"/>
          <p:cNvSpPr txBox="1"/>
          <p:nvPr>
            <p:ph idx="1" type="subTitle"/>
          </p:nvPr>
        </p:nvSpPr>
        <p:spPr>
          <a:xfrm>
            <a:off x="961950" y="2701524"/>
            <a:ext cx="7220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MARL Crazyflie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Michael O’Sullivan, Aydin Yalcinkaya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Using MARL to learn safe take-off and hover policies for Crazyflie drones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CrazyFlie, MuJuCo, Gymnasium, PyTorch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Progress Recap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417400" y="1369225"/>
            <a:ext cx="8267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/>
              <a:t>Goal</a:t>
            </a:r>
            <a:r>
              <a:rPr lang="en" sz="1800"/>
              <a:t>: Implementing MARL on </a:t>
            </a:r>
            <a:r>
              <a:rPr lang="en" sz="1800"/>
              <a:t>Crazyflie drones for </a:t>
            </a:r>
            <a:r>
              <a:rPr lang="en" sz="1800"/>
              <a:t>safe hovering and navigation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Progress</a:t>
            </a:r>
            <a:endParaRPr sz="18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Base environment for training a single drone to hover at a target</a:t>
            </a:r>
            <a:endParaRPr sz="18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Vectorized single agent PPO-Clip that interacts with the environment</a:t>
            </a:r>
            <a:endParaRPr sz="1800"/>
          </a:p>
          <a:p>
            <a:pPr indent="-342900" lvl="1" marL="914400" rtl="0" algn="l">
              <a:spcBef>
                <a:spcPts val="4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Runs 1 or more environments in parallel for better sampling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Engineered features to help the agent understand observation relationships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Progress Since Last Meeting 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511650" y="1268050"/>
            <a:ext cx="8119200" cy="3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Vectorized environments</a:t>
            </a:r>
            <a:r>
              <a:rPr lang="en" sz="1800"/>
              <a:t>: Agent can run multiple envs in parallel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Using SB3 VecEnv → Agent uses batched observations and actions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Hyperparameters and training schedule</a:t>
            </a:r>
            <a:r>
              <a:rPr lang="en" sz="1800"/>
              <a:t>: Adjusted based on testing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E.g. now running ~1500 step episodes for 150 000 total steps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Feature engineering</a:t>
            </a:r>
            <a:r>
              <a:rPr lang="en" sz="1800"/>
              <a:t>: Modifying base (pos/vel/rot) features to help the agent establish meaningful connections: ~100 features in obs space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E.g. relative position to target, (squared) distance to target, some are more complex, e.g. direction to target in the drones local coordinate system (body</a:t>
            </a:r>
            <a:r>
              <a:rPr lang="en"/>
              <a:t>→world rotation matrix @ direction vector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Tracking observation gradients during eval run to guide engineering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Results</a:t>
            </a:r>
            <a:r>
              <a:rPr lang="en" sz="1800"/>
              <a:t>: Better sampling, less variant and more successful behaviour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Plan for the Next Two Weeks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Goals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a single drone to hover at a target in any [X, Y, Z]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Perhaps hover at target T, then return to starting position and land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about MAPPO theory and implementation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Dependencies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Currently, feature engineering has yielded the most improvement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Experiment with other features, possibly adjust hyperparameters and training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Roadmap Checkpoint</a:t>
            </a:r>
            <a:endParaRPr/>
          </a:p>
        </p:txBody>
      </p:sp>
      <p:sp>
        <p:nvSpPr>
          <p:cNvPr id="219" name="Google Shape;219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Week 2: Imperfect single agent hovering at target on Z axis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Week 4: Successful [0, 0, Z] hover, imperfect [0, Y, Z] hover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Week 6: Next milestone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 deadline: Deliverables (e.g., report, demo, paper draft)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Early December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Shifts in schedule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Had planned to get [X, Y, Z] hovering working this week, so slightly behind (although this was an </a:t>
            </a:r>
            <a:r>
              <a:rPr lang="en" sz="1800"/>
              <a:t>ambitious</a:t>
            </a:r>
            <a:r>
              <a:rPr lang="en" sz="1800"/>
              <a:t> goal)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Discussion Points / Questions </a:t>
            </a:r>
            <a:endParaRPr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628650" y="1171425"/>
            <a:ext cx="7886700" cy="3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587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/>
              <a:t>Feature engineering discussion</a:t>
            </a:r>
            <a:endParaRPr b="1" sz="1900"/>
          </a:p>
          <a:p>
            <a:pPr indent="-2095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As I understand it, feature engineering will speed up the learning process and reduce training time</a:t>
            </a:r>
            <a:endParaRPr sz="1900"/>
          </a:p>
          <a:p>
            <a:pPr indent="-2095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Comparable projects (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Champion-level drone racing using deep reinforcement learning</a:t>
            </a:r>
            <a:r>
              <a:rPr lang="en" sz="1900"/>
              <a:t>) use a more basic observation space</a:t>
            </a:r>
            <a:endParaRPr sz="1900"/>
          </a:p>
          <a:p>
            <a:pPr indent="-20955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Pos/Vel &amp; Rotation matrix (15) + Relative pos of next quadrant (12) + prev action (4) → Total 31</a:t>
            </a:r>
            <a:endParaRPr sz="1900"/>
          </a:p>
          <a:p>
            <a:pPr indent="-20955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More </a:t>
            </a:r>
            <a:r>
              <a:rPr lang="en" sz="1900"/>
              <a:t>rigorous</a:t>
            </a:r>
            <a:r>
              <a:rPr lang="en" sz="1900"/>
              <a:t> training: 100 parallel envs, 100 million steps</a:t>
            </a:r>
            <a:endParaRPr sz="1900"/>
          </a:p>
          <a:p>
            <a:pPr indent="-20955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Us: 24 envs, 3.6 million steps (24 envs, 150000 steps per)</a:t>
            </a:r>
            <a:endParaRPr sz="1900"/>
          </a:p>
          <a:p>
            <a:pPr indent="-2095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Is our approach (~100 features) reasonable?</a:t>
            </a:r>
            <a:endParaRPr sz="1900"/>
          </a:p>
          <a:p>
            <a:pPr indent="-20955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Implications for running on actual drones (e.g. feature noise)?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Log Snapshot (Cumulative)</a:t>
            </a:r>
            <a:endParaRPr/>
          </a:p>
        </p:txBody>
      </p:sp>
      <p:graphicFrame>
        <p:nvGraphicFramePr>
          <p:cNvPr id="231" name="Google Shape;231;p41"/>
          <p:cNvGraphicFramePr/>
          <p:nvPr/>
        </p:nvGraphicFramePr>
        <p:xfrm>
          <a:off x="1084465" y="1361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{DDB1B1F9-9234-4F01-9741-F30DABF958EB}</a:tableStyleId>
              </a:tblPr>
              <a:tblGrid>
                <a:gridCol w="1531600"/>
                <a:gridCol w="1531600"/>
                <a:gridCol w="1531600"/>
                <a:gridCol w="1531600"/>
              </a:tblGrid>
              <a:tr h="60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Progress  Summary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Steps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112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Sept. 1</a:t>
                      </a:r>
                      <a:r>
                        <a:rPr lang="en"/>
                        <a:t>6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Set up MuJoCo sim; baseline PPO-Clip training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Refine current setup, explore MAPPO theory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Policy / env is current imperfect / inconsistent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112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Sept. 30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Successful</a:t>
                      </a:r>
                      <a:r>
                        <a:rPr lang="en"/>
                        <a:t> Z hover.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Semi-successful YZ hover</a:t>
                      </a:r>
                      <a:endParaRPr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Refind YZ hover and move to XYZ, explore MAPPO theory</a:t>
                      </a:r>
                      <a:endParaRPr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34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